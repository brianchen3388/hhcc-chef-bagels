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Bukhari Script" charset="1" panose="00000500000000000000"/>
      <p:regular r:id="rId19"/>
    </p:embeddedFont>
    <p:embeddedFont>
      <p:font typeface="Calibri (MS) Bold" charset="1" panose="020F0702030404030204"/>
      <p:regular r:id="rId20"/>
    </p:embeddedFont>
    <p:embeddedFont>
      <p:font typeface="Magnolia Script" charset="1" panose="02000503070000020003"/>
      <p:regular r:id="rId21"/>
    </p:embeddedFont>
    <p:embeddedFont>
      <p:font typeface="Distillery Display" charset="1" panose="00000000000000000000"/>
      <p:regular r:id="rId22"/>
    </p:embeddedFont>
    <p:embeddedFont>
      <p:font typeface="Calibri (MS)" charset="1" panose="020F0502020204030204"/>
      <p:regular r:id="rId23"/>
    </p:embeddedFont>
    <p:embeddedFont>
      <p:font typeface="League Spartan" charset="1" panose="00000800000000000000"/>
      <p:regular r:id="rId24"/>
    </p:embeddedFont>
    <p:embeddedFont>
      <p:font typeface="Glacial Indifference Bold" charset="1" panose="00000800000000000000"/>
      <p:regular r:id="rId28"/>
    </p:embeddedFont>
    <p:embeddedFont>
      <p:font typeface="Aileron Bold" charset="1" panose="00000800000000000000"/>
      <p:regular r:id="rId29"/>
    </p:embeddedFont>
    <p:embeddedFont>
      <p:font typeface="Calibri (MS) Bold Italics" charset="1" panose="020F07020304040A0204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notesMasters/notesMaster1.xml" Type="http://schemas.openxmlformats.org/officeDocument/2006/relationships/notesMaster"/><Relationship Id="rId26" Target="theme/theme2.xml" Type="http://schemas.openxmlformats.org/officeDocument/2006/relationships/theme"/><Relationship Id="rId27" Target="notesSlides/notesSlide1.xml" Type="http://schemas.openxmlformats.org/officeDocument/2006/relationships/notesSlide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/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png" Type="http://schemas.openxmlformats.org/officeDocument/2006/relationships/image"/><Relationship Id="rId4" Target="../media/image5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jpeg" Type="http://schemas.openxmlformats.org/officeDocument/2006/relationships/image"/><Relationship Id="rId3" Target="../media/image6.png" Type="http://schemas.openxmlformats.org/officeDocument/2006/relationships/image"/><Relationship Id="rId4" Target="../media/image7.png" Type="http://schemas.openxmlformats.org/officeDocument/2006/relationships/image"/><Relationship Id="rId5" Target="../media/image8.png" Type="http://schemas.openxmlformats.org/officeDocument/2006/relationships/image"/><Relationship Id="rId6" Target="../media/image9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7.svg" Type="http://schemas.openxmlformats.org/officeDocument/2006/relationships/image"/><Relationship Id="rId11" Target="../media/image18.png" Type="http://schemas.openxmlformats.org/officeDocument/2006/relationships/image"/><Relationship Id="rId12" Target="../media/image19.png" Type="http://schemas.openxmlformats.org/officeDocument/2006/relationships/image"/><Relationship Id="rId13" Target="../media/image20.svg" Type="http://schemas.openxmlformats.org/officeDocument/2006/relationships/image"/><Relationship Id="rId2" Target="../notesSlides/notesSlide1.xml" Type="http://schemas.openxmlformats.org/officeDocument/2006/relationships/notesSlide"/><Relationship Id="rId3" Target="../media/image10.png" Type="http://schemas.openxmlformats.org/officeDocument/2006/relationships/image"/><Relationship Id="rId4" Target="../media/image11.png" Type="http://schemas.openxmlformats.org/officeDocument/2006/relationships/image"/><Relationship Id="rId5" Target="../media/image12.png" Type="http://schemas.openxmlformats.org/officeDocument/2006/relationships/image"/><Relationship Id="rId6" Target="../media/image13.png" Type="http://schemas.openxmlformats.org/officeDocument/2006/relationships/image"/><Relationship Id="rId7" Target="../media/image14.svg" Type="http://schemas.openxmlformats.org/officeDocument/2006/relationships/image"/><Relationship Id="rId8" Target="../media/image15.png" Type="http://schemas.openxmlformats.org/officeDocument/2006/relationships/image"/><Relationship Id="rId9" Target="../media/image16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Relationship Id="rId3" Target="../media/image23.png" Type="http://schemas.openxmlformats.org/officeDocument/2006/relationships/image"/><Relationship Id="rId4" Target="../media/image24.png" Type="http://schemas.openxmlformats.org/officeDocument/2006/relationships/image"/><Relationship Id="rId5" Target="../media/image25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27.png" Type="http://schemas.openxmlformats.org/officeDocument/2006/relationships/image"/><Relationship Id="rId4" Target="../media/image28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9.png" Type="http://schemas.openxmlformats.org/officeDocument/2006/relationships/image"/><Relationship Id="rId4" Target="../media/image30.jpeg" Type="http://schemas.openxmlformats.org/officeDocument/2006/relationships/image"/><Relationship Id="rId5" Target="../media/image31.png" Type="http://schemas.openxmlformats.org/officeDocument/2006/relationships/image"/><Relationship Id="rId6" Target="../media/image32.jpeg" Type="http://schemas.openxmlformats.org/officeDocument/2006/relationships/image"/><Relationship Id="rId7" Target="../media/image33.jpeg" Type="http://schemas.openxmlformats.org/officeDocument/2006/relationships/image"/><Relationship Id="rId8" Target="../media/image34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FEFFFF">
                <a:alpha val="100000"/>
              </a:srgbClr>
            </a:gs>
            <a:gs pos="100000">
              <a:srgbClr val="C5C5C5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3382" y="0"/>
            <a:ext cx="18776789" cy="10287000"/>
          </a:xfrm>
          <a:custGeom>
            <a:avLst/>
            <a:gdLst/>
            <a:ahLst/>
            <a:cxnLst/>
            <a:rect r="r" b="b" t="t" l="l"/>
            <a:pathLst>
              <a:path h="10287000" w="18776789">
                <a:moveTo>
                  <a:pt x="0" y="0"/>
                </a:moveTo>
                <a:lnTo>
                  <a:pt x="18776789" y="0"/>
                </a:lnTo>
                <a:lnTo>
                  <a:pt x="18776789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8448" r="0" b="-1844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273420" y="3161644"/>
            <a:ext cx="2639908" cy="2639908"/>
          </a:xfrm>
          <a:custGeom>
            <a:avLst/>
            <a:gdLst/>
            <a:ahLst/>
            <a:cxnLst/>
            <a:rect r="r" b="b" t="t" l="l"/>
            <a:pathLst>
              <a:path h="2639908" w="2639908">
                <a:moveTo>
                  <a:pt x="0" y="0"/>
                </a:moveTo>
                <a:lnTo>
                  <a:pt x="2639908" y="0"/>
                </a:lnTo>
                <a:lnTo>
                  <a:pt x="2639908" y="2639908"/>
                </a:lnTo>
                <a:lnTo>
                  <a:pt x="0" y="26399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851528" y="3258686"/>
            <a:ext cx="11480764" cy="261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148"/>
              </a:lnSpc>
            </a:pPr>
            <a:r>
              <a:rPr lang="en-US" sz="18317">
                <a:solidFill>
                  <a:srgbClr val="EA5C03"/>
                </a:solidFill>
                <a:latin typeface="Bukhari Script"/>
                <a:ea typeface="Bukhari Script"/>
                <a:cs typeface="Bukhari Script"/>
                <a:sym typeface="Bukhari Script"/>
              </a:rPr>
              <a:t>Sketchly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106556" y="7186110"/>
            <a:ext cx="14074887" cy="6382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20"/>
              </a:lnSpc>
              <a:spcBef>
                <a:spcPct val="0"/>
              </a:spcBef>
            </a:pPr>
            <a:r>
              <a:rPr lang="en-US" b="true" sz="3371">
                <a:solidFill>
                  <a:srgbClr val="EA5C0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HHCC</a:t>
            </a:r>
            <a:r>
              <a:rPr lang="en-US" b="true" sz="3371">
                <a:solidFill>
                  <a:srgbClr val="EA5C0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2026 · Prototype Development Track · Team 26​ Chef Bagels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257405" y="6269103"/>
            <a:ext cx="14074887" cy="581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20"/>
              </a:lnSpc>
              <a:spcBef>
                <a:spcPct val="0"/>
              </a:spcBef>
            </a:pPr>
            <a:r>
              <a:rPr lang="en-US" sz="3371">
                <a:solidFill>
                  <a:srgbClr val="EA5C03"/>
                </a:solidFill>
                <a:latin typeface="Magnolia Script"/>
                <a:ea typeface="Magnolia Script"/>
                <a:cs typeface="Magnolia Script"/>
                <a:sym typeface="Magnolia Script"/>
              </a:rPr>
              <a:t>From sketch to site.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174384" y="2151861"/>
            <a:ext cx="5883575" cy="7866819"/>
            <a:chOff x="0" y="0"/>
            <a:chExt cx="1549584" cy="20719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49584" cy="2071919"/>
            </a:xfrm>
            <a:custGeom>
              <a:avLst/>
              <a:gdLst/>
              <a:ahLst/>
              <a:cxnLst/>
              <a:rect r="r" b="b" t="t" l="l"/>
              <a:pathLst>
                <a:path h="2071919" w="1549584">
                  <a:moveTo>
                    <a:pt x="111847" y="0"/>
                  </a:moveTo>
                  <a:lnTo>
                    <a:pt x="1437736" y="0"/>
                  </a:lnTo>
                  <a:cubicBezTo>
                    <a:pt x="1499508" y="0"/>
                    <a:pt x="1549584" y="50076"/>
                    <a:pt x="1549584" y="111847"/>
                  </a:cubicBezTo>
                  <a:lnTo>
                    <a:pt x="1549584" y="1960072"/>
                  </a:lnTo>
                  <a:cubicBezTo>
                    <a:pt x="1549584" y="1989736"/>
                    <a:pt x="1537800" y="2018185"/>
                    <a:pt x="1516824" y="2039160"/>
                  </a:cubicBezTo>
                  <a:cubicBezTo>
                    <a:pt x="1495849" y="2060135"/>
                    <a:pt x="1467400" y="2071919"/>
                    <a:pt x="1437736" y="2071919"/>
                  </a:cubicBezTo>
                  <a:lnTo>
                    <a:pt x="111847" y="2071919"/>
                  </a:lnTo>
                  <a:cubicBezTo>
                    <a:pt x="50076" y="2071919"/>
                    <a:pt x="0" y="2021844"/>
                    <a:pt x="0" y="1960072"/>
                  </a:cubicBezTo>
                  <a:lnTo>
                    <a:pt x="0" y="111847"/>
                  </a:lnTo>
                  <a:cubicBezTo>
                    <a:pt x="0" y="50076"/>
                    <a:pt x="50076" y="0"/>
                    <a:pt x="111847" y="0"/>
                  </a:cubicBezTo>
                  <a:close/>
                </a:path>
              </a:pathLst>
            </a:custGeom>
            <a:solidFill>
              <a:srgbClr val="FFE7C2"/>
            </a:solidFill>
            <a:ln w="47625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549584" cy="21195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94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2372284" y="2151861"/>
            <a:ext cx="5541458" cy="7866819"/>
            <a:chOff x="0" y="0"/>
            <a:chExt cx="1459479" cy="20719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459479" cy="2071919"/>
            </a:xfrm>
            <a:custGeom>
              <a:avLst/>
              <a:gdLst/>
              <a:ahLst/>
              <a:cxnLst/>
              <a:rect r="r" b="b" t="t" l="l"/>
              <a:pathLst>
                <a:path h="2071919" w="1459479">
                  <a:moveTo>
                    <a:pt x="118753" y="0"/>
                  </a:moveTo>
                  <a:lnTo>
                    <a:pt x="1340726" y="0"/>
                  </a:lnTo>
                  <a:cubicBezTo>
                    <a:pt x="1372221" y="0"/>
                    <a:pt x="1402426" y="12511"/>
                    <a:pt x="1424697" y="34782"/>
                  </a:cubicBezTo>
                  <a:cubicBezTo>
                    <a:pt x="1446967" y="57052"/>
                    <a:pt x="1459479" y="87258"/>
                    <a:pt x="1459479" y="118753"/>
                  </a:cubicBezTo>
                  <a:lnTo>
                    <a:pt x="1459479" y="1953167"/>
                  </a:lnTo>
                  <a:cubicBezTo>
                    <a:pt x="1459479" y="1984662"/>
                    <a:pt x="1446967" y="2014867"/>
                    <a:pt x="1424697" y="2037138"/>
                  </a:cubicBezTo>
                  <a:cubicBezTo>
                    <a:pt x="1402426" y="2059408"/>
                    <a:pt x="1372221" y="2071919"/>
                    <a:pt x="1340726" y="2071919"/>
                  </a:cubicBezTo>
                  <a:lnTo>
                    <a:pt x="118753" y="2071919"/>
                  </a:lnTo>
                  <a:cubicBezTo>
                    <a:pt x="87258" y="2071919"/>
                    <a:pt x="57052" y="2059408"/>
                    <a:pt x="34782" y="2037138"/>
                  </a:cubicBezTo>
                  <a:cubicBezTo>
                    <a:pt x="12511" y="2014867"/>
                    <a:pt x="0" y="1984662"/>
                    <a:pt x="0" y="1953167"/>
                  </a:cubicBezTo>
                  <a:lnTo>
                    <a:pt x="0" y="118753"/>
                  </a:lnTo>
                  <a:cubicBezTo>
                    <a:pt x="0" y="87258"/>
                    <a:pt x="12511" y="57052"/>
                    <a:pt x="34782" y="34782"/>
                  </a:cubicBezTo>
                  <a:cubicBezTo>
                    <a:pt x="57052" y="12511"/>
                    <a:pt x="87258" y="0"/>
                    <a:pt x="118753" y="0"/>
                  </a:cubicBezTo>
                  <a:close/>
                </a:path>
              </a:pathLst>
            </a:custGeom>
            <a:solidFill>
              <a:srgbClr val="FFD9C2"/>
            </a:solidFill>
            <a:ln w="47625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1459479" cy="21195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94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76865" y="2184946"/>
            <a:ext cx="5683061" cy="7833734"/>
            <a:chOff x="0" y="0"/>
            <a:chExt cx="7577415" cy="10444979"/>
          </a:xfrm>
        </p:grpSpPr>
        <p:grpSp>
          <p:nvGrpSpPr>
            <p:cNvPr name="Group 9" id="9"/>
            <p:cNvGrpSpPr/>
            <p:nvPr/>
          </p:nvGrpSpPr>
          <p:grpSpPr>
            <a:xfrm rot="0">
              <a:off x="0" y="0"/>
              <a:ext cx="7577415" cy="10444979"/>
              <a:chOff x="0" y="0"/>
              <a:chExt cx="1496773" cy="2063206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1496773" cy="2063206"/>
              </a:xfrm>
              <a:custGeom>
                <a:avLst/>
                <a:gdLst/>
                <a:ahLst/>
                <a:cxnLst/>
                <a:rect r="r" b="b" t="t" l="l"/>
                <a:pathLst>
                  <a:path h="2063206" w="1496773">
                    <a:moveTo>
                      <a:pt x="115794" y="0"/>
                    </a:moveTo>
                    <a:lnTo>
                      <a:pt x="1380980" y="0"/>
                    </a:lnTo>
                    <a:cubicBezTo>
                      <a:pt x="1444931" y="0"/>
                      <a:pt x="1496773" y="51843"/>
                      <a:pt x="1496773" y="115794"/>
                    </a:cubicBezTo>
                    <a:lnTo>
                      <a:pt x="1496773" y="1947412"/>
                    </a:lnTo>
                    <a:cubicBezTo>
                      <a:pt x="1496773" y="1978122"/>
                      <a:pt x="1484574" y="2007575"/>
                      <a:pt x="1462858" y="2029290"/>
                    </a:cubicBezTo>
                    <a:cubicBezTo>
                      <a:pt x="1441143" y="2051006"/>
                      <a:pt x="1411690" y="2063206"/>
                      <a:pt x="1380980" y="2063206"/>
                    </a:cubicBezTo>
                    <a:lnTo>
                      <a:pt x="115794" y="2063206"/>
                    </a:lnTo>
                    <a:cubicBezTo>
                      <a:pt x="85083" y="2063206"/>
                      <a:pt x="55631" y="2051006"/>
                      <a:pt x="33915" y="2029290"/>
                    </a:cubicBezTo>
                    <a:cubicBezTo>
                      <a:pt x="12200" y="2007575"/>
                      <a:pt x="0" y="1978122"/>
                      <a:pt x="0" y="1947412"/>
                    </a:cubicBezTo>
                    <a:lnTo>
                      <a:pt x="0" y="115794"/>
                    </a:lnTo>
                    <a:cubicBezTo>
                      <a:pt x="0" y="85083"/>
                      <a:pt x="12200" y="55631"/>
                      <a:pt x="33915" y="33915"/>
                    </a:cubicBezTo>
                    <a:cubicBezTo>
                      <a:pt x="55631" y="12200"/>
                      <a:pt x="85083" y="0"/>
                      <a:pt x="115794" y="0"/>
                    </a:cubicBezTo>
                    <a:close/>
                  </a:path>
                </a:pathLst>
              </a:custGeom>
              <a:solidFill>
                <a:srgbClr val="FFEB99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47625"/>
                <a:ext cx="1496773" cy="211083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994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3209430" y="157296"/>
              <a:ext cx="1274139" cy="1274139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751F"/>
              </a:solidFill>
              <a:ln w="38100" cap="sq">
                <a:solidFill>
                  <a:srgbClr val="1E1B3A"/>
                </a:solidFill>
                <a:prstDash val="lgDash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994"/>
                  </a:lnSpc>
                </a:pPr>
              </a:p>
            </p:txBody>
          </p:sp>
        </p:grpSp>
        <p:sp>
          <p:nvSpPr>
            <p:cNvPr name="TextBox 15" id="15"/>
            <p:cNvSpPr txBox="true"/>
            <p:nvPr/>
          </p:nvSpPr>
          <p:spPr>
            <a:xfrm rot="0">
              <a:off x="3209430" y="250264"/>
              <a:ext cx="1274139" cy="118125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474"/>
                </a:lnSpc>
                <a:spcBef>
                  <a:spcPct val="0"/>
                </a:spcBef>
              </a:pPr>
              <a:r>
                <a:rPr lang="en-US" sz="5339" spc="69">
                  <a:solidFill>
                    <a:srgbClr val="F3F3F3"/>
                  </a:solidFill>
                  <a:latin typeface="Distillery Display"/>
                  <a:ea typeface="Distillery Display"/>
                  <a:cs typeface="Distillery Display"/>
                  <a:sym typeface="Distillery Display"/>
                </a:rPr>
                <a:t>1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4654917" y="2302984"/>
            <a:ext cx="955604" cy="955604"/>
            <a:chOff x="0" y="0"/>
            <a:chExt cx="1274139" cy="1274139"/>
          </a:xfrm>
        </p:grpSpPr>
        <p:grpSp>
          <p:nvGrpSpPr>
            <p:cNvPr name="Group 17" id="17"/>
            <p:cNvGrpSpPr/>
            <p:nvPr/>
          </p:nvGrpSpPr>
          <p:grpSpPr>
            <a:xfrm rot="0">
              <a:off x="0" y="0"/>
              <a:ext cx="1274139" cy="1274139"/>
              <a:chOff x="0" y="0"/>
              <a:chExt cx="812800" cy="812800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751F"/>
              </a:solidFill>
              <a:ln w="38100" cap="sq">
                <a:solidFill>
                  <a:srgbClr val="1E1B3A"/>
                </a:solidFill>
                <a:prstDash val="lgDash"/>
                <a:miter/>
              </a:ln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994"/>
                  </a:lnSpc>
                </a:pPr>
              </a:p>
            </p:txBody>
          </p:sp>
        </p:grpSp>
        <p:sp>
          <p:nvSpPr>
            <p:cNvPr name="TextBox 20" id="20"/>
            <p:cNvSpPr txBox="true"/>
            <p:nvPr/>
          </p:nvSpPr>
          <p:spPr>
            <a:xfrm rot="0">
              <a:off x="0" y="92968"/>
              <a:ext cx="1274139" cy="118117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474"/>
                </a:lnSpc>
                <a:spcBef>
                  <a:spcPct val="0"/>
                </a:spcBef>
              </a:pPr>
              <a:r>
                <a:rPr lang="en-US" sz="5339" spc="69">
                  <a:solidFill>
                    <a:srgbClr val="F3F3F3"/>
                  </a:solidFill>
                  <a:latin typeface="Distillery Display"/>
                  <a:ea typeface="Distillery Display"/>
                  <a:cs typeface="Distillery Display"/>
                  <a:sym typeface="Distillery Display"/>
                </a:rPr>
                <a:t>3</a:t>
              </a: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409200" y="6132058"/>
            <a:ext cx="5218391" cy="3253962"/>
          </a:xfrm>
          <a:custGeom>
            <a:avLst/>
            <a:gdLst/>
            <a:ahLst/>
            <a:cxnLst/>
            <a:rect r="r" b="b" t="t" l="l"/>
            <a:pathLst>
              <a:path h="3253962" w="5218391">
                <a:moveTo>
                  <a:pt x="0" y="0"/>
                </a:moveTo>
                <a:lnTo>
                  <a:pt x="5218391" y="0"/>
                </a:lnTo>
                <a:lnTo>
                  <a:pt x="5218391" y="3253962"/>
                </a:lnTo>
                <a:lnTo>
                  <a:pt x="0" y="32539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6643982" y="5888371"/>
            <a:ext cx="4944379" cy="3741335"/>
          </a:xfrm>
          <a:custGeom>
            <a:avLst/>
            <a:gdLst/>
            <a:ahLst/>
            <a:cxnLst/>
            <a:rect r="r" b="b" t="t" l="l"/>
            <a:pathLst>
              <a:path h="3741335" w="4944379">
                <a:moveTo>
                  <a:pt x="0" y="0"/>
                </a:moveTo>
                <a:lnTo>
                  <a:pt x="4944379" y="0"/>
                </a:lnTo>
                <a:lnTo>
                  <a:pt x="4944379" y="3741336"/>
                </a:lnTo>
                <a:lnTo>
                  <a:pt x="0" y="37413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6698953" y="3220555"/>
            <a:ext cx="4890094" cy="12747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14"/>
              </a:lnSpc>
              <a:spcBef>
                <a:spcPct val="0"/>
              </a:spcBef>
            </a:pPr>
            <a:r>
              <a:rPr lang="en-US" b="true" sz="3439" spc="44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Building websites starts from scratch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8666198" y="2302984"/>
            <a:ext cx="955604" cy="955670"/>
            <a:chOff x="0" y="0"/>
            <a:chExt cx="1274139" cy="1274227"/>
          </a:xfrm>
        </p:grpSpPr>
        <p:grpSp>
          <p:nvGrpSpPr>
            <p:cNvPr name="Group 25" id="25"/>
            <p:cNvGrpSpPr/>
            <p:nvPr/>
          </p:nvGrpSpPr>
          <p:grpSpPr>
            <a:xfrm rot="0">
              <a:off x="0" y="0"/>
              <a:ext cx="1274139" cy="1274139"/>
              <a:chOff x="0" y="0"/>
              <a:chExt cx="812800" cy="812800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751F"/>
              </a:solidFill>
              <a:ln w="38100" cap="sq">
                <a:solidFill>
                  <a:srgbClr val="1E1B3A"/>
                </a:solidFill>
                <a:prstDash val="lgDash"/>
                <a:miter/>
              </a:ln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994"/>
                  </a:lnSpc>
                </a:pPr>
              </a:p>
            </p:txBody>
          </p:sp>
        </p:grpSp>
        <p:sp>
          <p:nvSpPr>
            <p:cNvPr name="TextBox 28" id="28"/>
            <p:cNvSpPr txBox="true"/>
            <p:nvPr/>
          </p:nvSpPr>
          <p:spPr>
            <a:xfrm rot="0">
              <a:off x="0" y="92968"/>
              <a:ext cx="1274139" cy="118125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474"/>
                </a:lnSpc>
                <a:spcBef>
                  <a:spcPct val="0"/>
                </a:spcBef>
              </a:pPr>
              <a:r>
                <a:rPr lang="en-US" sz="5339" spc="69">
                  <a:solidFill>
                    <a:srgbClr val="F3F3F3"/>
                  </a:solidFill>
                  <a:latin typeface="Distillery Display"/>
                  <a:ea typeface="Distillery Display"/>
                  <a:cs typeface="Distillery Display"/>
                  <a:sym typeface="Distillery Display"/>
                </a:rPr>
                <a:t>2</a:t>
              </a:r>
            </a:p>
          </p:txBody>
        </p:sp>
      </p:grpSp>
      <p:sp>
        <p:nvSpPr>
          <p:cNvPr name="Freeform 29" id="29"/>
          <p:cNvSpPr/>
          <p:nvPr/>
        </p:nvSpPr>
        <p:spPr>
          <a:xfrm flipH="false" flipV="false" rot="0">
            <a:off x="12513969" y="6161720"/>
            <a:ext cx="5258089" cy="3224300"/>
          </a:xfrm>
          <a:custGeom>
            <a:avLst/>
            <a:gdLst/>
            <a:ahLst/>
            <a:cxnLst/>
            <a:rect r="r" b="b" t="t" l="l"/>
            <a:pathLst>
              <a:path h="3224300" w="5258089">
                <a:moveTo>
                  <a:pt x="0" y="0"/>
                </a:moveTo>
                <a:lnTo>
                  <a:pt x="5258089" y="0"/>
                </a:lnTo>
                <a:lnTo>
                  <a:pt x="5258089" y="3224300"/>
                </a:lnTo>
                <a:lnTo>
                  <a:pt x="0" y="32243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0">
            <a:off x="275792" y="155250"/>
            <a:ext cx="7918117" cy="10436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073"/>
              </a:lnSpc>
              <a:spcBef>
                <a:spcPct val="0"/>
              </a:spcBef>
            </a:pPr>
            <a:r>
              <a:rPr lang="en-US" b="true" sz="643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Problem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16693" y="3169342"/>
            <a:ext cx="4890094" cy="12747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14"/>
              </a:lnSpc>
              <a:spcBef>
                <a:spcPct val="0"/>
              </a:spcBef>
            </a:pPr>
            <a:r>
              <a:rPr lang="en-US" b="true" sz="3439" spc="44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Sketch ideas </a:t>
            </a:r>
            <a:r>
              <a:rPr lang="en-US" b="true" sz="3439" spc="44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get lost in translation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599441" y="3364370"/>
            <a:ext cx="5087145" cy="1051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08"/>
              </a:lnSpc>
              <a:spcBef>
                <a:spcPct val="0"/>
              </a:spcBef>
            </a:pPr>
            <a:r>
              <a:rPr lang="en-US" b="true" sz="2863" spc="37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AI tools on the market </a:t>
            </a:r>
            <a:r>
              <a:rPr lang="en-US" b="true" sz="2863" spc="37">
                <a:solidFill>
                  <a:srgbClr val="FF751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guess</a:t>
            </a:r>
            <a:r>
              <a:rPr lang="en-US" b="true" sz="2863" spc="37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, without true understanding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74841" y="4648646"/>
            <a:ext cx="4087109" cy="7648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4"/>
              </a:lnSpc>
              <a:spcBef>
                <a:spcPct val="0"/>
              </a:spcBef>
            </a:pPr>
            <a:r>
              <a:rPr lang="en-US" sz="2139" spc="2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Rough sketches cannot become usable interfaces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626042" y="4648646"/>
            <a:ext cx="5035916" cy="7648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4"/>
              </a:lnSpc>
              <a:spcBef>
                <a:spcPct val="0"/>
              </a:spcBef>
            </a:pPr>
            <a:r>
              <a:rPr lang="en-US" sz="2139" spc="2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Every website concept requires interface design and front-end expertise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2625055" y="4772025"/>
            <a:ext cx="5035916" cy="7648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4"/>
              </a:lnSpc>
              <a:spcBef>
                <a:spcPct val="0"/>
              </a:spcBef>
            </a:pPr>
            <a:r>
              <a:rPr lang="en-US" sz="2139" spc="2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Prompt-based generators often miss layout/design intent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2250675" y="1292253"/>
            <a:ext cx="16037325" cy="5133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54"/>
              </a:lnSpc>
              <a:spcBef>
                <a:spcPct val="0"/>
              </a:spcBef>
            </a:pPr>
            <a:r>
              <a:rPr lang="en-US" sz="3039" spc="3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 project</a:t>
            </a:r>
            <a:r>
              <a:rPr lang="en-US" sz="3039" spc="3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</a:t>
            </a:r>
            <a:r>
              <a:rPr lang="en-US" sz="3039" spc="39">
                <a:solidFill>
                  <a:srgbClr val="FF751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idea</a:t>
            </a:r>
            <a:r>
              <a:rPr lang="en-US" sz="3039" spc="3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is easy to find, but making it </a:t>
            </a:r>
            <a:r>
              <a:rPr lang="en-US" sz="3039" spc="39">
                <a:solidFill>
                  <a:srgbClr val="FF751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precise</a:t>
            </a:r>
            <a:r>
              <a:rPr lang="en-US" sz="3039" spc="39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is tough.</a:t>
            </a:r>
          </a:p>
        </p:txBody>
      </p:sp>
      <p:sp>
        <p:nvSpPr>
          <p:cNvPr name="AutoShape 37" id="37"/>
          <p:cNvSpPr/>
          <p:nvPr/>
        </p:nvSpPr>
        <p:spPr>
          <a:xfrm flipV="true">
            <a:off x="1380624" y="1557746"/>
            <a:ext cx="870036" cy="688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10714" y="1312399"/>
            <a:ext cx="804854" cy="804854"/>
          </a:xfrm>
          <a:custGeom>
            <a:avLst/>
            <a:gdLst/>
            <a:ahLst/>
            <a:cxnLst/>
            <a:rect r="r" b="b" t="t" l="l"/>
            <a:pathLst>
              <a:path h="804854" w="804854">
                <a:moveTo>
                  <a:pt x="0" y="0"/>
                </a:moveTo>
                <a:lnTo>
                  <a:pt x="804854" y="0"/>
                </a:lnTo>
                <a:lnTo>
                  <a:pt x="804854" y="804854"/>
                </a:lnTo>
                <a:lnTo>
                  <a:pt x="0" y="80485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57724" y="2469678"/>
            <a:ext cx="5374083" cy="7040001"/>
            <a:chOff x="0" y="0"/>
            <a:chExt cx="1496773" cy="196076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496773" cy="1960760"/>
            </a:xfrm>
            <a:custGeom>
              <a:avLst/>
              <a:gdLst/>
              <a:ahLst/>
              <a:cxnLst/>
              <a:rect r="r" b="b" t="t" l="l"/>
              <a:pathLst>
                <a:path h="1960760" w="1496773">
                  <a:moveTo>
                    <a:pt x="122451" y="0"/>
                  </a:moveTo>
                  <a:lnTo>
                    <a:pt x="1374322" y="0"/>
                  </a:lnTo>
                  <a:cubicBezTo>
                    <a:pt x="1441950" y="0"/>
                    <a:pt x="1496773" y="54823"/>
                    <a:pt x="1496773" y="122451"/>
                  </a:cubicBezTo>
                  <a:lnTo>
                    <a:pt x="1496773" y="1838309"/>
                  </a:lnTo>
                  <a:cubicBezTo>
                    <a:pt x="1496773" y="1905937"/>
                    <a:pt x="1441950" y="1960760"/>
                    <a:pt x="1374322" y="1960760"/>
                  </a:cubicBezTo>
                  <a:lnTo>
                    <a:pt x="122451" y="1960760"/>
                  </a:lnTo>
                  <a:cubicBezTo>
                    <a:pt x="54823" y="1960760"/>
                    <a:pt x="0" y="1905937"/>
                    <a:pt x="0" y="1838309"/>
                  </a:cubicBezTo>
                  <a:lnTo>
                    <a:pt x="0" y="122451"/>
                  </a:lnTo>
                  <a:cubicBezTo>
                    <a:pt x="0" y="54823"/>
                    <a:pt x="54823" y="0"/>
                    <a:pt x="122451" y="0"/>
                  </a:cubicBezTo>
                  <a:close/>
                </a:path>
              </a:pathLst>
            </a:custGeom>
            <a:solidFill>
              <a:srgbClr val="FFEB99"/>
            </a:solidFill>
            <a:ln w="47625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1496773" cy="20083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94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429167" y="2482635"/>
            <a:ext cx="5563695" cy="7027044"/>
            <a:chOff x="0" y="0"/>
            <a:chExt cx="1549584" cy="195715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549584" cy="1957151"/>
            </a:xfrm>
            <a:custGeom>
              <a:avLst/>
              <a:gdLst/>
              <a:ahLst/>
              <a:cxnLst/>
              <a:rect r="r" b="b" t="t" l="l"/>
              <a:pathLst>
                <a:path h="1957151" w="1549584">
                  <a:moveTo>
                    <a:pt x="118278" y="0"/>
                  </a:moveTo>
                  <a:lnTo>
                    <a:pt x="1431306" y="0"/>
                  </a:lnTo>
                  <a:cubicBezTo>
                    <a:pt x="1496629" y="0"/>
                    <a:pt x="1549584" y="52955"/>
                    <a:pt x="1549584" y="118278"/>
                  </a:cubicBezTo>
                  <a:lnTo>
                    <a:pt x="1549584" y="1838873"/>
                  </a:lnTo>
                  <a:cubicBezTo>
                    <a:pt x="1549584" y="1904196"/>
                    <a:pt x="1496629" y="1957151"/>
                    <a:pt x="1431306" y="1957151"/>
                  </a:cubicBezTo>
                  <a:lnTo>
                    <a:pt x="118278" y="1957151"/>
                  </a:lnTo>
                  <a:cubicBezTo>
                    <a:pt x="52955" y="1957151"/>
                    <a:pt x="0" y="1904196"/>
                    <a:pt x="0" y="1838873"/>
                  </a:cubicBezTo>
                  <a:lnTo>
                    <a:pt x="0" y="118278"/>
                  </a:lnTo>
                  <a:cubicBezTo>
                    <a:pt x="0" y="52955"/>
                    <a:pt x="52955" y="0"/>
                    <a:pt x="118278" y="0"/>
                  </a:cubicBezTo>
                  <a:close/>
                </a:path>
              </a:pathLst>
            </a:custGeom>
            <a:solidFill>
              <a:srgbClr val="FFE7C2"/>
            </a:solidFill>
            <a:ln w="47625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47625"/>
              <a:ext cx="1549584" cy="20047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94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2290098" y="2469678"/>
            <a:ext cx="5240178" cy="7040001"/>
            <a:chOff x="0" y="0"/>
            <a:chExt cx="1459479" cy="196076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59479" cy="1960760"/>
            </a:xfrm>
            <a:custGeom>
              <a:avLst/>
              <a:gdLst/>
              <a:ahLst/>
              <a:cxnLst/>
              <a:rect r="r" b="b" t="t" l="l"/>
              <a:pathLst>
                <a:path h="1960760" w="1459479">
                  <a:moveTo>
                    <a:pt x="125580" y="0"/>
                  </a:moveTo>
                  <a:lnTo>
                    <a:pt x="1333898" y="0"/>
                  </a:lnTo>
                  <a:cubicBezTo>
                    <a:pt x="1403255" y="0"/>
                    <a:pt x="1459479" y="56224"/>
                    <a:pt x="1459479" y="125580"/>
                  </a:cubicBezTo>
                  <a:lnTo>
                    <a:pt x="1459479" y="1835180"/>
                  </a:lnTo>
                  <a:cubicBezTo>
                    <a:pt x="1459479" y="1868486"/>
                    <a:pt x="1446248" y="1900427"/>
                    <a:pt x="1422697" y="1923978"/>
                  </a:cubicBezTo>
                  <a:cubicBezTo>
                    <a:pt x="1399146" y="1947529"/>
                    <a:pt x="1367204" y="1960760"/>
                    <a:pt x="1333898" y="1960760"/>
                  </a:cubicBezTo>
                  <a:lnTo>
                    <a:pt x="125580" y="1960760"/>
                  </a:lnTo>
                  <a:cubicBezTo>
                    <a:pt x="56224" y="1960760"/>
                    <a:pt x="0" y="1904536"/>
                    <a:pt x="0" y="1835180"/>
                  </a:cubicBezTo>
                  <a:lnTo>
                    <a:pt x="0" y="125580"/>
                  </a:lnTo>
                  <a:cubicBezTo>
                    <a:pt x="0" y="56224"/>
                    <a:pt x="56224" y="0"/>
                    <a:pt x="125580" y="0"/>
                  </a:cubicBezTo>
                  <a:close/>
                </a:path>
              </a:pathLst>
            </a:custGeom>
            <a:solidFill>
              <a:srgbClr val="FFD9C2"/>
            </a:solidFill>
            <a:ln w="47625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1459479" cy="20083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94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3033927" y="2581236"/>
            <a:ext cx="903650" cy="903712"/>
            <a:chOff x="0" y="0"/>
            <a:chExt cx="1204866" cy="1204950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1204866" cy="1204866"/>
              <a:chOff x="0" y="0"/>
              <a:chExt cx="812800" cy="812800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751F"/>
              </a:solidFill>
              <a:ln w="38100" cap="sq">
                <a:solidFill>
                  <a:srgbClr val="1E1B3A"/>
                </a:solidFill>
                <a:prstDash val="lgDash"/>
                <a:miter/>
              </a:ln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994"/>
                  </a:lnSpc>
                </a:pPr>
              </a:p>
            </p:txBody>
          </p:sp>
        </p:grpSp>
        <p:sp>
          <p:nvSpPr>
            <p:cNvPr name="TextBox 16" id="16"/>
            <p:cNvSpPr txBox="true"/>
            <p:nvPr/>
          </p:nvSpPr>
          <p:spPr>
            <a:xfrm rot="0">
              <a:off x="0" y="91742"/>
              <a:ext cx="1204866" cy="11132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068"/>
                </a:lnSpc>
                <a:spcBef>
                  <a:spcPct val="0"/>
                </a:spcBef>
              </a:pPr>
              <a:r>
                <a:rPr lang="en-US" sz="5048" spc="65">
                  <a:solidFill>
                    <a:srgbClr val="F3F3F3"/>
                  </a:solidFill>
                  <a:latin typeface="Distillery Display"/>
                  <a:ea typeface="Distillery Display"/>
                  <a:cs typeface="Distillery Display"/>
                  <a:sym typeface="Distillery Display"/>
                </a:rPr>
                <a:t>1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4448628" y="2581298"/>
            <a:ext cx="903650" cy="903650"/>
            <a:chOff x="0" y="0"/>
            <a:chExt cx="1204866" cy="1204866"/>
          </a:xfrm>
        </p:grpSpPr>
        <p:grpSp>
          <p:nvGrpSpPr>
            <p:cNvPr name="Group 18" id="18"/>
            <p:cNvGrpSpPr/>
            <p:nvPr/>
          </p:nvGrpSpPr>
          <p:grpSpPr>
            <a:xfrm rot="0">
              <a:off x="0" y="0"/>
              <a:ext cx="1204866" cy="1204866"/>
              <a:chOff x="0" y="0"/>
              <a:chExt cx="812800" cy="812800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751F"/>
              </a:solidFill>
              <a:ln w="38100" cap="sq">
                <a:solidFill>
                  <a:srgbClr val="1E1B3A"/>
                </a:solidFill>
                <a:prstDash val="lgDash"/>
                <a:miter/>
              </a:ln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994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0" y="91742"/>
              <a:ext cx="1204866" cy="111312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068"/>
                </a:lnSpc>
                <a:spcBef>
                  <a:spcPct val="0"/>
                </a:spcBef>
              </a:pPr>
              <a:r>
                <a:rPr lang="en-US" sz="5048" spc="65">
                  <a:solidFill>
                    <a:srgbClr val="F3F3F3"/>
                  </a:solidFill>
                  <a:latin typeface="Distillery Display"/>
                  <a:ea typeface="Distillery Display"/>
                  <a:cs typeface="Distillery Display"/>
                  <a:sym typeface="Distillery Display"/>
                </a:rPr>
                <a:t>3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8785505" y="2581298"/>
            <a:ext cx="903650" cy="903712"/>
            <a:chOff x="0" y="0"/>
            <a:chExt cx="1204866" cy="1204950"/>
          </a:xfrm>
        </p:grpSpPr>
        <p:grpSp>
          <p:nvGrpSpPr>
            <p:cNvPr name="Group 23" id="23"/>
            <p:cNvGrpSpPr/>
            <p:nvPr/>
          </p:nvGrpSpPr>
          <p:grpSpPr>
            <a:xfrm rot="0">
              <a:off x="0" y="0"/>
              <a:ext cx="1204866" cy="1204866"/>
              <a:chOff x="0" y="0"/>
              <a:chExt cx="812800" cy="812800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751F"/>
              </a:solidFill>
              <a:ln w="38100" cap="sq">
                <a:solidFill>
                  <a:srgbClr val="1E1B3A"/>
                </a:solidFill>
                <a:prstDash val="lgDash"/>
                <a:miter/>
              </a:ln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994"/>
                  </a:lnSpc>
                </a:pPr>
              </a:p>
            </p:txBody>
          </p:sp>
        </p:grpSp>
        <p:sp>
          <p:nvSpPr>
            <p:cNvPr name="TextBox 26" id="26"/>
            <p:cNvSpPr txBox="true"/>
            <p:nvPr/>
          </p:nvSpPr>
          <p:spPr>
            <a:xfrm rot="0">
              <a:off x="0" y="91742"/>
              <a:ext cx="1204866" cy="11132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068"/>
                </a:lnSpc>
                <a:spcBef>
                  <a:spcPct val="0"/>
                </a:spcBef>
              </a:pPr>
              <a:r>
                <a:rPr lang="en-US" sz="5048" spc="65">
                  <a:solidFill>
                    <a:srgbClr val="F3F3F3"/>
                  </a:solidFill>
                  <a:latin typeface="Distillery Display"/>
                  <a:ea typeface="Distillery Display"/>
                  <a:cs typeface="Distillery Display"/>
                  <a:sym typeface="Distillery Display"/>
                </a:rPr>
                <a:t>2</a:t>
              </a:r>
            </a:p>
          </p:txBody>
        </p:sp>
      </p:grpSp>
      <p:sp>
        <p:nvSpPr>
          <p:cNvPr name="Freeform 27" id="27"/>
          <p:cNvSpPr/>
          <p:nvPr/>
        </p:nvSpPr>
        <p:spPr>
          <a:xfrm flipH="false" flipV="false" rot="0">
            <a:off x="1388502" y="4949533"/>
            <a:ext cx="4112526" cy="4353208"/>
          </a:xfrm>
          <a:custGeom>
            <a:avLst/>
            <a:gdLst/>
            <a:ahLst/>
            <a:cxnLst/>
            <a:rect r="r" b="b" t="t" l="l"/>
            <a:pathLst>
              <a:path h="4353208" w="4112526">
                <a:moveTo>
                  <a:pt x="0" y="0"/>
                </a:moveTo>
                <a:lnTo>
                  <a:pt x="4112526" y="0"/>
                </a:lnTo>
                <a:lnTo>
                  <a:pt x="4112526" y="4353209"/>
                </a:lnTo>
                <a:lnTo>
                  <a:pt x="0" y="435320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7441012" y="5433999"/>
            <a:ext cx="3592637" cy="3834023"/>
          </a:xfrm>
          <a:custGeom>
            <a:avLst/>
            <a:gdLst/>
            <a:ahLst/>
            <a:cxnLst/>
            <a:rect r="r" b="b" t="t" l="l"/>
            <a:pathLst>
              <a:path h="3834023" w="3592637">
                <a:moveTo>
                  <a:pt x="0" y="0"/>
                </a:moveTo>
                <a:lnTo>
                  <a:pt x="3592637" y="0"/>
                </a:lnTo>
                <a:lnTo>
                  <a:pt x="3592637" y="3834023"/>
                </a:lnTo>
                <a:lnTo>
                  <a:pt x="0" y="38340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12709943" y="8403568"/>
            <a:ext cx="534899" cy="618286"/>
          </a:xfrm>
          <a:custGeom>
            <a:avLst/>
            <a:gdLst/>
            <a:ahLst/>
            <a:cxnLst/>
            <a:rect r="r" b="b" t="t" l="l"/>
            <a:pathLst>
              <a:path h="618286" w="534899">
                <a:moveTo>
                  <a:pt x="0" y="0"/>
                </a:moveTo>
                <a:lnTo>
                  <a:pt x="534899" y="0"/>
                </a:lnTo>
                <a:lnTo>
                  <a:pt x="534899" y="618286"/>
                </a:lnTo>
                <a:lnTo>
                  <a:pt x="0" y="61828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12445068" y="5640943"/>
            <a:ext cx="4910770" cy="2354564"/>
          </a:xfrm>
          <a:custGeom>
            <a:avLst/>
            <a:gdLst/>
            <a:ahLst/>
            <a:cxnLst/>
            <a:rect r="r" b="b" t="t" l="l"/>
            <a:pathLst>
              <a:path h="2354564" w="4910770">
                <a:moveTo>
                  <a:pt x="0" y="0"/>
                </a:moveTo>
                <a:lnTo>
                  <a:pt x="4910770" y="0"/>
                </a:lnTo>
                <a:lnTo>
                  <a:pt x="4910770" y="2354564"/>
                </a:lnTo>
                <a:lnTo>
                  <a:pt x="0" y="235456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31" id="31"/>
          <p:cNvSpPr txBox="true"/>
          <p:nvPr/>
        </p:nvSpPr>
        <p:spPr>
          <a:xfrm rot="0">
            <a:off x="2554697" y="1487440"/>
            <a:ext cx="14069348" cy="564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11"/>
              </a:lnSpc>
              <a:spcBef>
                <a:spcPct val="0"/>
              </a:spcBef>
            </a:pPr>
            <a:r>
              <a:rPr lang="en-US" sz="3294" spc="42">
                <a:gradFill>
                  <a:gsLst>
                    <a:gs pos="0">
                      <a:srgbClr val="FF3131">
                        <a:alpha val="100000"/>
                      </a:srgbClr>
                    </a:gs>
                    <a:gs pos="100000">
                      <a:srgbClr val="FF914D">
                        <a:alpha val="100000"/>
                      </a:srgbClr>
                    </a:gs>
                  </a:gsLst>
                  <a:lin ang="0"/>
                </a:gradFill>
                <a:latin typeface="League Spartan"/>
                <a:ea typeface="League Spartan"/>
                <a:cs typeface="League Spartan"/>
                <a:sym typeface="League Spartan"/>
              </a:rPr>
              <a:t>Sketchly</a:t>
            </a:r>
            <a:r>
              <a:rPr lang="en-US" sz="3294" spc="42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– turns a </a:t>
            </a:r>
            <a:r>
              <a:rPr lang="en-US" sz="3294" spc="42">
                <a:solidFill>
                  <a:srgbClr val="FF751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sketch</a:t>
            </a:r>
            <a:r>
              <a:rPr lang="en-US" sz="3294" spc="42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into a </a:t>
            </a:r>
            <a:r>
              <a:rPr lang="en-US" sz="3294" spc="42">
                <a:solidFill>
                  <a:srgbClr val="04069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working interface</a:t>
            </a:r>
            <a:r>
              <a:rPr lang="en-US" sz="3294" spc="42">
                <a:solidFill>
                  <a:srgbClr val="FF751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</a:t>
            </a:r>
            <a:r>
              <a:rPr lang="en-US" sz="3294" spc="42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in real time.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925217" y="3427798"/>
            <a:ext cx="4693174" cy="11273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2"/>
              </a:lnSpc>
              <a:spcBef>
                <a:spcPct val="0"/>
              </a:spcBef>
            </a:pPr>
            <a:r>
              <a:rPr lang="en-US" sz="3252" spc="42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Machine understands the structure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173639" y="3478511"/>
            <a:ext cx="4624227" cy="5509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2"/>
              </a:lnSpc>
              <a:spcBef>
                <a:spcPct val="0"/>
              </a:spcBef>
            </a:pPr>
            <a:r>
              <a:rPr lang="en-US" sz="3252" spc="42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Draw naturally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2504905" y="3478511"/>
            <a:ext cx="4810565" cy="10993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98"/>
              </a:lnSpc>
              <a:spcBef>
                <a:spcPct val="0"/>
              </a:spcBef>
            </a:pPr>
            <a:r>
              <a:rPr lang="en-US" sz="3212" spc="41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Generate, Refine, Export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512315" y="4296151"/>
            <a:ext cx="3864899" cy="377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31"/>
              </a:lnSpc>
              <a:spcBef>
                <a:spcPct val="0"/>
              </a:spcBef>
            </a:pPr>
            <a:r>
              <a:rPr lang="en-US" sz="2022" spc="2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It’s simple. Sketch with a mouse.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6856269" y="4597108"/>
            <a:ext cx="4762122" cy="7294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31"/>
              </a:lnSpc>
              <a:spcBef>
                <a:spcPct val="0"/>
              </a:spcBef>
            </a:pPr>
            <a:r>
              <a:rPr lang="en-US" sz="2022" spc="2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Machine vision recognizes components, layout, and hierarchy.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529126" y="4578074"/>
            <a:ext cx="4762122" cy="7294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31"/>
              </a:lnSpc>
              <a:spcBef>
                <a:spcPct val="0"/>
              </a:spcBef>
            </a:pPr>
            <a:r>
              <a:rPr lang="en-US" sz="2022" spc="2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Preview designed pages and export usable code with full transparency.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275792" y="155250"/>
            <a:ext cx="7918117" cy="10436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073"/>
              </a:lnSpc>
              <a:spcBef>
                <a:spcPct val="0"/>
              </a:spcBef>
            </a:pPr>
            <a:r>
              <a:rPr lang="en-US" b="true" sz="643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Our Solution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25109" y="2064531"/>
            <a:ext cx="4142402" cy="3635045"/>
          </a:xfrm>
          <a:custGeom>
            <a:avLst/>
            <a:gdLst/>
            <a:ahLst/>
            <a:cxnLst/>
            <a:rect r="r" b="b" t="t" l="l"/>
            <a:pathLst>
              <a:path h="3635045" w="4142402">
                <a:moveTo>
                  <a:pt x="0" y="0"/>
                </a:moveTo>
                <a:lnTo>
                  <a:pt x="4142403" y="0"/>
                </a:lnTo>
                <a:lnTo>
                  <a:pt x="4142403" y="3635044"/>
                </a:lnTo>
                <a:lnTo>
                  <a:pt x="0" y="36350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997" t="0" r="-3328" b="-2408"/>
            </a:stretch>
          </a:blipFill>
          <a:ln w="104775" cap="sq">
            <a:solidFill>
              <a:srgbClr val="FF2F1F"/>
            </a:solidFill>
            <a:prstDash val="solid"/>
            <a:miter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500521" y="4851336"/>
            <a:ext cx="2356221" cy="1696479"/>
          </a:xfrm>
          <a:custGeom>
            <a:avLst/>
            <a:gdLst/>
            <a:ahLst/>
            <a:cxnLst/>
            <a:rect r="r" b="b" t="t" l="l"/>
            <a:pathLst>
              <a:path h="1696479" w="2356221">
                <a:moveTo>
                  <a:pt x="0" y="0"/>
                </a:moveTo>
                <a:lnTo>
                  <a:pt x="2356221" y="0"/>
                </a:lnTo>
                <a:lnTo>
                  <a:pt x="2356221" y="1696479"/>
                </a:lnTo>
                <a:lnTo>
                  <a:pt x="0" y="16964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025937" y="2064531"/>
            <a:ext cx="4175432" cy="3635045"/>
          </a:xfrm>
          <a:custGeom>
            <a:avLst/>
            <a:gdLst/>
            <a:ahLst/>
            <a:cxnLst/>
            <a:rect r="r" b="b" t="t" l="l"/>
            <a:pathLst>
              <a:path h="3635045" w="4175432">
                <a:moveTo>
                  <a:pt x="0" y="0"/>
                </a:moveTo>
                <a:lnTo>
                  <a:pt x="4175432" y="0"/>
                </a:lnTo>
                <a:lnTo>
                  <a:pt x="4175432" y="3635044"/>
                </a:lnTo>
                <a:lnTo>
                  <a:pt x="0" y="363504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346" t="0" r="-3365" b="0"/>
            </a:stretch>
          </a:blipFill>
          <a:ln w="104775" cap="sq">
            <a:solidFill>
              <a:srgbClr val="FF914D"/>
            </a:solidFill>
            <a:prstDash val="solid"/>
            <a:miter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8455913" y="1198908"/>
            <a:ext cx="2845454" cy="2532454"/>
          </a:xfrm>
          <a:custGeom>
            <a:avLst/>
            <a:gdLst/>
            <a:ahLst/>
            <a:cxnLst/>
            <a:rect r="r" b="b" t="t" l="l"/>
            <a:pathLst>
              <a:path h="2532454" w="2845454">
                <a:moveTo>
                  <a:pt x="0" y="0"/>
                </a:moveTo>
                <a:lnTo>
                  <a:pt x="2845454" y="0"/>
                </a:lnTo>
                <a:lnTo>
                  <a:pt x="2845454" y="2532454"/>
                </a:lnTo>
                <a:lnTo>
                  <a:pt x="0" y="253245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7197762" y="5947095"/>
            <a:ext cx="4203932" cy="3632945"/>
          </a:xfrm>
          <a:custGeom>
            <a:avLst/>
            <a:gdLst/>
            <a:ahLst/>
            <a:cxnLst/>
            <a:rect r="r" b="b" t="t" l="l"/>
            <a:pathLst>
              <a:path h="3632945" w="4203932">
                <a:moveTo>
                  <a:pt x="0" y="0"/>
                </a:moveTo>
                <a:lnTo>
                  <a:pt x="4203931" y="0"/>
                </a:lnTo>
                <a:lnTo>
                  <a:pt x="4203931" y="3632945"/>
                </a:lnTo>
                <a:lnTo>
                  <a:pt x="0" y="363294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1640" t="0" r="-2952" b="-1518"/>
            </a:stretch>
          </a:blipFill>
          <a:ln w="104775" cap="sq">
            <a:solidFill>
              <a:srgbClr val="FFD21F"/>
            </a:solidFill>
            <a:prstDash val="solid"/>
            <a:miter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6363496" y="8535114"/>
            <a:ext cx="1796841" cy="1635125"/>
          </a:xfrm>
          <a:custGeom>
            <a:avLst/>
            <a:gdLst/>
            <a:ahLst/>
            <a:cxnLst/>
            <a:rect r="r" b="b" t="t" l="l"/>
            <a:pathLst>
              <a:path h="1635125" w="1796841">
                <a:moveTo>
                  <a:pt x="0" y="0"/>
                </a:moveTo>
                <a:lnTo>
                  <a:pt x="1796840" y="0"/>
                </a:lnTo>
                <a:lnTo>
                  <a:pt x="1796840" y="1635125"/>
                </a:lnTo>
                <a:lnTo>
                  <a:pt x="0" y="163512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2019108" y="5947095"/>
            <a:ext cx="4380929" cy="3632945"/>
          </a:xfrm>
          <a:custGeom>
            <a:avLst/>
            <a:gdLst/>
            <a:ahLst/>
            <a:cxnLst/>
            <a:rect r="r" b="b" t="t" l="l"/>
            <a:pathLst>
              <a:path h="3632945" w="4380929">
                <a:moveTo>
                  <a:pt x="0" y="0"/>
                </a:moveTo>
                <a:lnTo>
                  <a:pt x="4380929" y="0"/>
                </a:lnTo>
                <a:lnTo>
                  <a:pt x="4380929" y="3632945"/>
                </a:lnTo>
                <a:lnTo>
                  <a:pt x="0" y="363294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1279" t="-799" r="0" b="-4148"/>
            </a:stretch>
          </a:blipFill>
          <a:ln w="104775" cap="sq">
            <a:solidFill>
              <a:srgbClr val="FE7483"/>
            </a:solidFill>
            <a:prstDash val="solid"/>
            <a:miter/>
          </a:ln>
        </p:spPr>
      </p:sp>
      <p:sp>
        <p:nvSpPr>
          <p:cNvPr name="Freeform 9" id="9"/>
          <p:cNvSpPr/>
          <p:nvPr/>
        </p:nvSpPr>
        <p:spPr>
          <a:xfrm flipH="false" flipV="false" rot="0">
            <a:off x="14874375" y="4938080"/>
            <a:ext cx="2226234" cy="2368334"/>
          </a:xfrm>
          <a:custGeom>
            <a:avLst/>
            <a:gdLst/>
            <a:ahLst/>
            <a:cxnLst/>
            <a:rect r="r" b="b" t="t" l="l"/>
            <a:pathLst>
              <a:path h="2368334" w="2226234">
                <a:moveTo>
                  <a:pt x="0" y="0"/>
                </a:moveTo>
                <a:lnTo>
                  <a:pt x="2226234" y="0"/>
                </a:lnTo>
                <a:lnTo>
                  <a:pt x="2226234" y="2368334"/>
                </a:lnTo>
                <a:lnTo>
                  <a:pt x="0" y="236833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275792" y="155250"/>
            <a:ext cx="9342156" cy="10436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073"/>
              </a:lnSpc>
              <a:spcBef>
                <a:spcPct val="0"/>
              </a:spcBef>
            </a:pPr>
            <a:r>
              <a:rPr lang="en-US" b="true" sz="643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Core Components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72125" y="1097279"/>
            <a:ext cx="15143749" cy="8092441"/>
          </a:xfrm>
          <a:custGeom>
            <a:avLst/>
            <a:gdLst/>
            <a:ahLst/>
            <a:cxnLst/>
            <a:rect r="r" b="b" t="t" l="l"/>
            <a:pathLst>
              <a:path h="8092441" w="15143749">
                <a:moveTo>
                  <a:pt x="0" y="0"/>
                </a:moveTo>
                <a:lnTo>
                  <a:pt x="15143750" y="0"/>
                </a:lnTo>
                <a:lnTo>
                  <a:pt x="15143750" y="8092442"/>
                </a:lnTo>
                <a:lnTo>
                  <a:pt x="0" y="80924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8642025" y="9153525"/>
            <a:ext cx="7693371" cy="9530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3"/>
              </a:lnSpc>
              <a:spcBef>
                <a:spcPct val="0"/>
              </a:spcBef>
            </a:pPr>
            <a:r>
              <a:rPr lang="en-US" b="true" sz="2602" spc="33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Right-hand side: live generated website entirely based on the canvas, updating as you draw.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870689" y="9186574"/>
            <a:ext cx="5684181" cy="4958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3"/>
              </a:lnSpc>
              <a:spcBef>
                <a:spcPct val="0"/>
              </a:spcBef>
            </a:pPr>
            <a:r>
              <a:rPr lang="en-US" b="true" sz="2602" spc="33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Left-hand side: Sketching canvas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75792" y="155283"/>
            <a:ext cx="9342156" cy="1043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073"/>
              </a:lnSpc>
              <a:spcBef>
                <a:spcPct val="0"/>
              </a:spcBef>
            </a:pPr>
            <a:r>
              <a:rPr lang="en-US" b="true" sz="643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Product Concept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5911" y="2152816"/>
            <a:ext cx="4310782" cy="2543154"/>
            <a:chOff x="0" y="0"/>
            <a:chExt cx="5747709" cy="3390873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5747709" cy="3390873"/>
              <a:chOff x="0" y="0"/>
              <a:chExt cx="823695" cy="48594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823695" cy="485941"/>
              </a:xfrm>
              <a:custGeom>
                <a:avLst/>
                <a:gdLst/>
                <a:ahLst/>
                <a:cxnLst/>
                <a:rect r="r" b="b" t="t" l="l"/>
                <a:pathLst>
                  <a:path h="485941" w="823695">
                    <a:moveTo>
                      <a:pt x="126248" y="0"/>
                    </a:moveTo>
                    <a:lnTo>
                      <a:pt x="697447" y="0"/>
                    </a:lnTo>
                    <a:cubicBezTo>
                      <a:pt x="730930" y="0"/>
                      <a:pt x="763042" y="13301"/>
                      <a:pt x="786718" y="36977"/>
                    </a:cubicBezTo>
                    <a:cubicBezTo>
                      <a:pt x="810394" y="60653"/>
                      <a:pt x="823695" y="92765"/>
                      <a:pt x="823695" y="126248"/>
                    </a:cubicBezTo>
                    <a:lnTo>
                      <a:pt x="823695" y="359692"/>
                    </a:lnTo>
                    <a:cubicBezTo>
                      <a:pt x="823695" y="393176"/>
                      <a:pt x="810394" y="425287"/>
                      <a:pt x="786718" y="448964"/>
                    </a:cubicBezTo>
                    <a:cubicBezTo>
                      <a:pt x="763042" y="472640"/>
                      <a:pt x="730930" y="485941"/>
                      <a:pt x="697447" y="485941"/>
                    </a:cubicBezTo>
                    <a:lnTo>
                      <a:pt x="126248" y="485941"/>
                    </a:lnTo>
                    <a:cubicBezTo>
                      <a:pt x="92765" y="485941"/>
                      <a:pt x="60653" y="472640"/>
                      <a:pt x="36977" y="448964"/>
                    </a:cubicBezTo>
                    <a:cubicBezTo>
                      <a:pt x="13301" y="425287"/>
                      <a:pt x="0" y="393176"/>
                      <a:pt x="0" y="359692"/>
                    </a:cubicBezTo>
                    <a:lnTo>
                      <a:pt x="0" y="126248"/>
                    </a:lnTo>
                    <a:cubicBezTo>
                      <a:pt x="0" y="92765"/>
                      <a:pt x="13301" y="60653"/>
                      <a:pt x="36977" y="36977"/>
                    </a:cubicBezTo>
                    <a:cubicBezTo>
                      <a:pt x="60653" y="13301"/>
                      <a:pt x="92765" y="0"/>
                      <a:pt x="126248" y="0"/>
                    </a:cubicBezTo>
                    <a:close/>
                  </a:path>
                </a:pathLst>
              </a:custGeom>
              <a:solidFill>
                <a:srgbClr val="FFEB99"/>
              </a:solidFill>
              <a:ln w="38100" cap="rnd">
                <a:solidFill>
                  <a:srgbClr val="000000"/>
                </a:solidFill>
                <a:prstDash val="dash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04775"/>
                <a:ext cx="823695" cy="59071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3"/>
                  </a:lnSpc>
                </a:pPr>
              </a:p>
            </p:txBody>
          </p:sp>
        </p:grpSp>
        <p:sp>
          <p:nvSpPr>
            <p:cNvPr name="TextBox 6" id="6"/>
            <p:cNvSpPr txBox="true"/>
            <p:nvPr/>
          </p:nvSpPr>
          <p:spPr>
            <a:xfrm rot="0">
              <a:off x="1329251" y="300913"/>
              <a:ext cx="2683724" cy="8711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774413" indent="-387206" lvl="1">
                <a:lnSpc>
                  <a:spcPts val="5021"/>
                </a:lnSpc>
                <a:spcBef>
                  <a:spcPct val="0"/>
                </a:spcBef>
                <a:buAutoNum type="arabicPeriod" startAt="1"/>
              </a:pPr>
              <a:r>
                <a:rPr lang="en-US" b="true" sz="3586" spc="46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DRAW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1251003"/>
              <a:ext cx="5747709" cy="14443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210"/>
                </a:lnSpc>
                <a:spcBef>
                  <a:spcPct val="0"/>
                </a:spcBef>
              </a:pPr>
              <a:r>
                <a:rPr lang="en-US" b="true" sz="3007" spc="39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Sketch website by pen·line·frame·text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468034" y="2152816"/>
            <a:ext cx="4310782" cy="2543124"/>
            <a:chOff x="0" y="0"/>
            <a:chExt cx="5747709" cy="3390832"/>
          </a:xfrm>
        </p:grpSpPr>
        <p:grpSp>
          <p:nvGrpSpPr>
            <p:cNvPr name="Group 9" id="9"/>
            <p:cNvGrpSpPr/>
            <p:nvPr/>
          </p:nvGrpSpPr>
          <p:grpSpPr>
            <a:xfrm rot="0">
              <a:off x="0" y="0"/>
              <a:ext cx="5747709" cy="3390832"/>
              <a:chOff x="0" y="0"/>
              <a:chExt cx="823695" cy="48593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23695" cy="485935"/>
              </a:xfrm>
              <a:custGeom>
                <a:avLst/>
                <a:gdLst/>
                <a:ahLst/>
                <a:cxnLst/>
                <a:rect r="r" b="b" t="t" l="l"/>
                <a:pathLst>
                  <a:path h="485935" w="823695">
                    <a:moveTo>
                      <a:pt x="126248" y="0"/>
                    </a:moveTo>
                    <a:lnTo>
                      <a:pt x="697447" y="0"/>
                    </a:lnTo>
                    <a:cubicBezTo>
                      <a:pt x="730930" y="0"/>
                      <a:pt x="763042" y="13301"/>
                      <a:pt x="786718" y="36977"/>
                    </a:cubicBezTo>
                    <a:cubicBezTo>
                      <a:pt x="810394" y="60653"/>
                      <a:pt x="823695" y="92765"/>
                      <a:pt x="823695" y="126248"/>
                    </a:cubicBezTo>
                    <a:lnTo>
                      <a:pt x="823695" y="359687"/>
                    </a:lnTo>
                    <a:cubicBezTo>
                      <a:pt x="823695" y="393170"/>
                      <a:pt x="810394" y="425282"/>
                      <a:pt x="786718" y="448958"/>
                    </a:cubicBezTo>
                    <a:cubicBezTo>
                      <a:pt x="763042" y="472634"/>
                      <a:pt x="730930" y="485935"/>
                      <a:pt x="697447" y="485935"/>
                    </a:cubicBezTo>
                    <a:lnTo>
                      <a:pt x="126248" y="485935"/>
                    </a:lnTo>
                    <a:cubicBezTo>
                      <a:pt x="92765" y="485935"/>
                      <a:pt x="60653" y="472634"/>
                      <a:pt x="36977" y="448958"/>
                    </a:cubicBezTo>
                    <a:cubicBezTo>
                      <a:pt x="13301" y="425282"/>
                      <a:pt x="0" y="393170"/>
                      <a:pt x="0" y="359687"/>
                    </a:cubicBezTo>
                    <a:lnTo>
                      <a:pt x="0" y="126248"/>
                    </a:lnTo>
                    <a:cubicBezTo>
                      <a:pt x="0" y="92765"/>
                      <a:pt x="13301" y="60653"/>
                      <a:pt x="36977" y="36977"/>
                    </a:cubicBezTo>
                    <a:cubicBezTo>
                      <a:pt x="60653" y="13301"/>
                      <a:pt x="92765" y="0"/>
                      <a:pt x="126248" y="0"/>
                    </a:cubicBezTo>
                    <a:close/>
                  </a:path>
                </a:pathLst>
              </a:custGeom>
              <a:solidFill>
                <a:srgbClr val="FFE7C2"/>
              </a:solidFill>
              <a:ln w="38100" cap="rnd">
                <a:solidFill>
                  <a:srgbClr val="000000"/>
                </a:solidFill>
                <a:prstDash val="dash"/>
                <a:round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104775"/>
                <a:ext cx="823695" cy="59071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3"/>
                  </a:lnSpc>
                </a:pPr>
              </a:p>
            </p:txBody>
          </p:sp>
        </p:grpSp>
        <p:sp>
          <p:nvSpPr>
            <p:cNvPr name="TextBox 12" id="12"/>
            <p:cNvSpPr txBox="true"/>
            <p:nvPr/>
          </p:nvSpPr>
          <p:spPr>
            <a:xfrm rot="0">
              <a:off x="1088494" y="300913"/>
              <a:ext cx="3570720" cy="87113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774413" indent="-387206" lvl="1">
                <a:lnSpc>
                  <a:spcPts val="5021"/>
                </a:lnSpc>
                <a:spcBef>
                  <a:spcPct val="0"/>
                </a:spcBef>
                <a:buAutoNum type="arabicPeriod" startAt="1"/>
              </a:pPr>
              <a:r>
                <a:rPr lang="en-US" b="true" sz="3586" spc="46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ANALYZE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1260487"/>
              <a:ext cx="5747709" cy="13877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056"/>
                </a:lnSpc>
                <a:spcBef>
                  <a:spcPct val="0"/>
                </a:spcBef>
              </a:pPr>
              <a:r>
                <a:rPr lang="en-US" b="true" sz="2897" spc="37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Recognition starts automatically · 1000ms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3211166" y="7016330"/>
            <a:ext cx="4690923" cy="2543124"/>
            <a:chOff x="0" y="0"/>
            <a:chExt cx="6254564" cy="3390832"/>
          </a:xfrm>
        </p:grpSpPr>
        <p:grpSp>
          <p:nvGrpSpPr>
            <p:cNvPr name="Group 15" id="15"/>
            <p:cNvGrpSpPr/>
            <p:nvPr/>
          </p:nvGrpSpPr>
          <p:grpSpPr>
            <a:xfrm rot="0">
              <a:off x="0" y="0"/>
              <a:ext cx="5747709" cy="3390832"/>
              <a:chOff x="0" y="0"/>
              <a:chExt cx="823695" cy="485935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23695" cy="485935"/>
              </a:xfrm>
              <a:custGeom>
                <a:avLst/>
                <a:gdLst/>
                <a:ahLst/>
                <a:cxnLst/>
                <a:rect r="r" b="b" t="t" l="l"/>
                <a:pathLst>
                  <a:path h="485935" w="823695">
                    <a:moveTo>
                      <a:pt x="126248" y="0"/>
                    </a:moveTo>
                    <a:lnTo>
                      <a:pt x="697447" y="0"/>
                    </a:lnTo>
                    <a:cubicBezTo>
                      <a:pt x="730930" y="0"/>
                      <a:pt x="763042" y="13301"/>
                      <a:pt x="786718" y="36977"/>
                    </a:cubicBezTo>
                    <a:cubicBezTo>
                      <a:pt x="810394" y="60653"/>
                      <a:pt x="823695" y="92765"/>
                      <a:pt x="823695" y="126248"/>
                    </a:cubicBezTo>
                    <a:lnTo>
                      <a:pt x="823695" y="359687"/>
                    </a:lnTo>
                    <a:cubicBezTo>
                      <a:pt x="823695" y="393170"/>
                      <a:pt x="810394" y="425282"/>
                      <a:pt x="786718" y="448958"/>
                    </a:cubicBezTo>
                    <a:cubicBezTo>
                      <a:pt x="763042" y="472634"/>
                      <a:pt x="730930" y="485935"/>
                      <a:pt x="697447" y="485935"/>
                    </a:cubicBezTo>
                    <a:lnTo>
                      <a:pt x="126248" y="485935"/>
                    </a:lnTo>
                    <a:cubicBezTo>
                      <a:pt x="92765" y="485935"/>
                      <a:pt x="60653" y="472634"/>
                      <a:pt x="36977" y="448958"/>
                    </a:cubicBezTo>
                    <a:cubicBezTo>
                      <a:pt x="13301" y="425282"/>
                      <a:pt x="0" y="393170"/>
                      <a:pt x="0" y="359687"/>
                    </a:cubicBezTo>
                    <a:lnTo>
                      <a:pt x="0" y="126248"/>
                    </a:lnTo>
                    <a:cubicBezTo>
                      <a:pt x="0" y="92765"/>
                      <a:pt x="13301" y="60653"/>
                      <a:pt x="36977" y="36977"/>
                    </a:cubicBezTo>
                    <a:cubicBezTo>
                      <a:pt x="60653" y="13301"/>
                      <a:pt x="92765" y="0"/>
                      <a:pt x="126248" y="0"/>
                    </a:cubicBezTo>
                    <a:close/>
                  </a:path>
                </a:pathLst>
              </a:custGeom>
              <a:solidFill>
                <a:srgbClr val="FFC2C2"/>
              </a:solidFill>
              <a:ln w="38100" cap="rnd">
                <a:solidFill>
                  <a:srgbClr val="000000"/>
                </a:solidFill>
                <a:prstDash val="dash"/>
                <a:round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104775"/>
                <a:ext cx="823695" cy="59071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3"/>
                  </a:lnSpc>
                </a:pPr>
              </a:p>
            </p:txBody>
          </p:sp>
        </p:grpSp>
        <p:sp>
          <p:nvSpPr>
            <p:cNvPr name="TextBox 18" id="18"/>
            <p:cNvSpPr txBox="true"/>
            <p:nvPr/>
          </p:nvSpPr>
          <p:spPr>
            <a:xfrm rot="0">
              <a:off x="1421374" y="-23884"/>
              <a:ext cx="2683724" cy="87113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774413" indent="-387206" lvl="1">
                <a:lnSpc>
                  <a:spcPts val="5021"/>
                </a:lnSpc>
                <a:spcBef>
                  <a:spcPct val="0"/>
                </a:spcBef>
                <a:buAutoNum type="arabicPeriod" startAt="1"/>
              </a:pPr>
              <a:r>
                <a:rPr lang="en-US" b="true" sz="3586" spc="46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INFER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506855" y="1260487"/>
              <a:ext cx="5747709" cy="69874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056"/>
                </a:lnSpc>
                <a:spcBef>
                  <a:spcPct val="0"/>
                </a:spcBef>
              </a:pP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485884" y="866179"/>
              <a:ext cx="4878154" cy="23566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511"/>
                </a:lnSpc>
              </a:pPr>
              <a:r>
                <a:rPr lang="en-US" b="true" sz="2508" spc="32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Stroke context predicts component function</a:t>
              </a:r>
            </a:p>
            <a:p>
              <a:pPr algn="ctr">
                <a:lnSpc>
                  <a:spcPts val="3511"/>
                </a:lnSpc>
                <a:spcBef>
                  <a:spcPct val="0"/>
                </a:spcBef>
              </a:pPr>
              <a:r>
                <a:rPr lang="en-US" b="true" sz="2508" spc="32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(Navbar·Hero·Cards·Form·Footer)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2977651" y="2152816"/>
            <a:ext cx="4697838" cy="2545279"/>
            <a:chOff x="0" y="0"/>
            <a:chExt cx="6263783" cy="3393706"/>
          </a:xfrm>
        </p:grpSpPr>
        <p:grpSp>
          <p:nvGrpSpPr>
            <p:cNvPr name="Group 22" id="22"/>
            <p:cNvGrpSpPr/>
            <p:nvPr/>
          </p:nvGrpSpPr>
          <p:grpSpPr>
            <a:xfrm rot="0">
              <a:off x="0" y="0"/>
              <a:ext cx="6263783" cy="3393706"/>
              <a:chOff x="0" y="0"/>
              <a:chExt cx="927675" cy="502612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927674" cy="502612"/>
              </a:xfrm>
              <a:custGeom>
                <a:avLst/>
                <a:gdLst/>
                <a:ahLst/>
                <a:cxnLst/>
                <a:rect r="r" b="b" t="t" l="l"/>
                <a:pathLst>
                  <a:path h="502612" w="927674">
                    <a:moveTo>
                      <a:pt x="112098" y="0"/>
                    </a:moveTo>
                    <a:lnTo>
                      <a:pt x="815577" y="0"/>
                    </a:lnTo>
                    <a:cubicBezTo>
                      <a:pt x="845307" y="0"/>
                      <a:pt x="873819" y="11810"/>
                      <a:pt x="894842" y="32833"/>
                    </a:cubicBezTo>
                    <a:cubicBezTo>
                      <a:pt x="915864" y="53855"/>
                      <a:pt x="927674" y="82368"/>
                      <a:pt x="927674" y="112098"/>
                    </a:cubicBezTo>
                    <a:lnTo>
                      <a:pt x="927674" y="390515"/>
                    </a:lnTo>
                    <a:cubicBezTo>
                      <a:pt x="927674" y="420245"/>
                      <a:pt x="915864" y="448757"/>
                      <a:pt x="894842" y="469780"/>
                    </a:cubicBezTo>
                    <a:cubicBezTo>
                      <a:pt x="873819" y="490802"/>
                      <a:pt x="845307" y="502612"/>
                      <a:pt x="815577" y="502612"/>
                    </a:cubicBezTo>
                    <a:lnTo>
                      <a:pt x="112098" y="502612"/>
                    </a:lnTo>
                    <a:cubicBezTo>
                      <a:pt x="82368" y="502612"/>
                      <a:pt x="53855" y="490802"/>
                      <a:pt x="32833" y="469780"/>
                    </a:cubicBezTo>
                    <a:cubicBezTo>
                      <a:pt x="11810" y="448757"/>
                      <a:pt x="0" y="420245"/>
                      <a:pt x="0" y="390515"/>
                    </a:cubicBezTo>
                    <a:lnTo>
                      <a:pt x="0" y="112098"/>
                    </a:lnTo>
                    <a:cubicBezTo>
                      <a:pt x="0" y="82368"/>
                      <a:pt x="11810" y="53855"/>
                      <a:pt x="32833" y="32833"/>
                    </a:cubicBezTo>
                    <a:cubicBezTo>
                      <a:pt x="53855" y="11810"/>
                      <a:pt x="82368" y="0"/>
                      <a:pt x="112098" y="0"/>
                    </a:cubicBezTo>
                    <a:close/>
                  </a:path>
                </a:pathLst>
              </a:custGeom>
              <a:solidFill>
                <a:srgbClr val="FFC099"/>
              </a:solidFill>
              <a:ln w="38100" cap="rnd">
                <a:solidFill>
                  <a:srgbClr val="000000"/>
                </a:solidFill>
                <a:prstDash val="dash"/>
                <a:round/>
              </a:ln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104775"/>
                <a:ext cx="927675" cy="60738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3"/>
                  </a:lnSpc>
                </a:pPr>
              </a:p>
            </p:txBody>
          </p:sp>
        </p:grpSp>
        <p:sp>
          <p:nvSpPr>
            <p:cNvPr name="TextBox 25" id="25"/>
            <p:cNvSpPr txBox="true"/>
            <p:nvPr/>
          </p:nvSpPr>
          <p:spPr>
            <a:xfrm rot="0">
              <a:off x="1367958" y="119023"/>
              <a:ext cx="3527868" cy="77757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704356" indent="-352178" lvl="1">
                <a:lnSpc>
                  <a:spcPts val="4567"/>
                </a:lnSpc>
                <a:spcBef>
                  <a:spcPct val="0"/>
                </a:spcBef>
                <a:buAutoNum type="arabicPeriod" startAt="1"/>
              </a:pPr>
              <a:r>
                <a:rPr lang="en-US" b="true" sz="3262" spc="42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Classify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334230" y="963008"/>
              <a:ext cx="5616605" cy="17002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347"/>
                </a:lnSpc>
              </a:pPr>
              <a:r>
                <a:rPr lang="en-US" b="true" sz="2390" spc="3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Strokes become UI primitives</a:t>
              </a:r>
            </a:p>
            <a:p>
              <a:pPr algn="l">
                <a:lnSpc>
                  <a:spcPts val="3347"/>
                </a:lnSpc>
                <a:spcBef>
                  <a:spcPct val="0"/>
                </a:spcBef>
              </a:pPr>
              <a:r>
                <a:rPr lang="en-US" b="true" sz="2390" spc="3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(Text·Button·Input·Image·Container)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6504529" y="7016330"/>
            <a:ext cx="4310782" cy="2543124"/>
            <a:chOff x="0" y="0"/>
            <a:chExt cx="5747709" cy="3390832"/>
          </a:xfrm>
        </p:grpSpPr>
        <p:grpSp>
          <p:nvGrpSpPr>
            <p:cNvPr name="Group 28" id="28"/>
            <p:cNvGrpSpPr/>
            <p:nvPr/>
          </p:nvGrpSpPr>
          <p:grpSpPr>
            <a:xfrm rot="0">
              <a:off x="0" y="0"/>
              <a:ext cx="5747709" cy="3390832"/>
              <a:chOff x="0" y="0"/>
              <a:chExt cx="823695" cy="485935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823695" cy="485935"/>
              </a:xfrm>
              <a:custGeom>
                <a:avLst/>
                <a:gdLst/>
                <a:ahLst/>
                <a:cxnLst/>
                <a:rect r="r" b="b" t="t" l="l"/>
                <a:pathLst>
                  <a:path h="485935" w="823695">
                    <a:moveTo>
                      <a:pt x="126248" y="0"/>
                    </a:moveTo>
                    <a:lnTo>
                      <a:pt x="697447" y="0"/>
                    </a:lnTo>
                    <a:cubicBezTo>
                      <a:pt x="730930" y="0"/>
                      <a:pt x="763042" y="13301"/>
                      <a:pt x="786718" y="36977"/>
                    </a:cubicBezTo>
                    <a:cubicBezTo>
                      <a:pt x="810394" y="60653"/>
                      <a:pt x="823695" y="92765"/>
                      <a:pt x="823695" y="126248"/>
                    </a:cubicBezTo>
                    <a:lnTo>
                      <a:pt x="823695" y="359687"/>
                    </a:lnTo>
                    <a:cubicBezTo>
                      <a:pt x="823695" y="393170"/>
                      <a:pt x="810394" y="425282"/>
                      <a:pt x="786718" y="448958"/>
                    </a:cubicBezTo>
                    <a:cubicBezTo>
                      <a:pt x="763042" y="472634"/>
                      <a:pt x="730930" y="485935"/>
                      <a:pt x="697447" y="485935"/>
                    </a:cubicBezTo>
                    <a:lnTo>
                      <a:pt x="126248" y="485935"/>
                    </a:lnTo>
                    <a:cubicBezTo>
                      <a:pt x="92765" y="485935"/>
                      <a:pt x="60653" y="472634"/>
                      <a:pt x="36977" y="448958"/>
                    </a:cubicBezTo>
                    <a:cubicBezTo>
                      <a:pt x="13301" y="425282"/>
                      <a:pt x="0" y="393170"/>
                      <a:pt x="0" y="359687"/>
                    </a:cubicBezTo>
                    <a:lnTo>
                      <a:pt x="0" y="126248"/>
                    </a:lnTo>
                    <a:cubicBezTo>
                      <a:pt x="0" y="92765"/>
                      <a:pt x="13301" y="60653"/>
                      <a:pt x="36977" y="36977"/>
                    </a:cubicBezTo>
                    <a:cubicBezTo>
                      <a:pt x="60653" y="13301"/>
                      <a:pt x="92765" y="0"/>
                      <a:pt x="126248" y="0"/>
                    </a:cubicBezTo>
                    <a:close/>
                  </a:path>
                </a:pathLst>
              </a:custGeom>
              <a:solidFill>
                <a:srgbClr val="FF914D"/>
              </a:solidFill>
              <a:ln w="38100" cap="rnd">
                <a:solidFill>
                  <a:srgbClr val="000000"/>
                </a:solidFill>
                <a:prstDash val="dash"/>
                <a:round/>
              </a:ln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104775"/>
                <a:ext cx="823695" cy="59071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3"/>
                  </a:lnSpc>
                </a:pPr>
              </a:p>
            </p:txBody>
          </p:sp>
        </p:grpSp>
        <p:sp>
          <p:nvSpPr>
            <p:cNvPr name="TextBox 31" id="31"/>
            <p:cNvSpPr txBox="true"/>
            <p:nvPr/>
          </p:nvSpPr>
          <p:spPr>
            <a:xfrm rot="0">
              <a:off x="967538" y="106274"/>
              <a:ext cx="3812633" cy="87113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774413" indent="-387206" lvl="1">
                <a:lnSpc>
                  <a:spcPts val="5021"/>
                </a:lnSpc>
                <a:spcBef>
                  <a:spcPct val="0"/>
                </a:spcBef>
                <a:buAutoNum type="arabicPeriod" startAt="1"/>
              </a:pPr>
              <a:r>
                <a:rPr lang="en-US" b="true" sz="3586" spc="46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CORRECT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0" y="944385"/>
              <a:ext cx="5747709" cy="13877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056"/>
                </a:lnSpc>
                <a:spcBef>
                  <a:spcPct val="0"/>
                </a:spcBef>
              </a:pPr>
              <a:r>
                <a:rPr lang="en-US" b="true" sz="2897" spc="37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user verifies the interpretation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385911" y="7016330"/>
            <a:ext cx="4244099" cy="2505402"/>
            <a:chOff x="0" y="0"/>
            <a:chExt cx="5658798" cy="3340536"/>
          </a:xfrm>
        </p:grpSpPr>
        <p:grpSp>
          <p:nvGrpSpPr>
            <p:cNvPr name="Group 34" id="34"/>
            <p:cNvGrpSpPr/>
            <p:nvPr/>
          </p:nvGrpSpPr>
          <p:grpSpPr>
            <a:xfrm rot="0">
              <a:off x="0" y="0"/>
              <a:ext cx="5658798" cy="3340536"/>
              <a:chOff x="0" y="0"/>
              <a:chExt cx="823695" cy="486249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823695" cy="486249"/>
              </a:xfrm>
              <a:custGeom>
                <a:avLst/>
                <a:gdLst/>
                <a:ahLst/>
                <a:cxnLst/>
                <a:rect r="r" b="b" t="t" l="l"/>
                <a:pathLst>
                  <a:path h="486249" w="823695">
                    <a:moveTo>
                      <a:pt x="126248" y="0"/>
                    </a:moveTo>
                    <a:lnTo>
                      <a:pt x="697447" y="0"/>
                    </a:lnTo>
                    <a:cubicBezTo>
                      <a:pt x="730930" y="0"/>
                      <a:pt x="763042" y="13301"/>
                      <a:pt x="786718" y="36977"/>
                    </a:cubicBezTo>
                    <a:cubicBezTo>
                      <a:pt x="810394" y="60653"/>
                      <a:pt x="823695" y="92765"/>
                      <a:pt x="823695" y="126248"/>
                    </a:cubicBezTo>
                    <a:lnTo>
                      <a:pt x="823695" y="360000"/>
                    </a:lnTo>
                    <a:cubicBezTo>
                      <a:pt x="823695" y="393484"/>
                      <a:pt x="810394" y="425595"/>
                      <a:pt x="786718" y="449272"/>
                    </a:cubicBezTo>
                    <a:cubicBezTo>
                      <a:pt x="763042" y="472948"/>
                      <a:pt x="730930" y="486249"/>
                      <a:pt x="697447" y="486249"/>
                    </a:cubicBezTo>
                    <a:lnTo>
                      <a:pt x="126248" y="486249"/>
                    </a:lnTo>
                    <a:cubicBezTo>
                      <a:pt x="92765" y="486249"/>
                      <a:pt x="60653" y="472948"/>
                      <a:pt x="36977" y="449272"/>
                    </a:cubicBezTo>
                    <a:cubicBezTo>
                      <a:pt x="13301" y="425595"/>
                      <a:pt x="0" y="393484"/>
                      <a:pt x="0" y="360000"/>
                    </a:cubicBezTo>
                    <a:lnTo>
                      <a:pt x="0" y="126248"/>
                    </a:lnTo>
                    <a:cubicBezTo>
                      <a:pt x="0" y="92765"/>
                      <a:pt x="13301" y="60653"/>
                      <a:pt x="36977" y="36977"/>
                    </a:cubicBezTo>
                    <a:cubicBezTo>
                      <a:pt x="60653" y="13301"/>
                      <a:pt x="92765" y="0"/>
                      <a:pt x="126248" y="0"/>
                    </a:cubicBezTo>
                    <a:close/>
                  </a:path>
                </a:pathLst>
              </a:custGeom>
              <a:solidFill>
                <a:srgbClr val="FFD21F"/>
              </a:solidFill>
              <a:ln w="38100" cap="rnd">
                <a:solidFill>
                  <a:srgbClr val="000000"/>
                </a:solidFill>
                <a:prstDash val="dash"/>
                <a:round/>
              </a:ln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-104775"/>
                <a:ext cx="823695" cy="59102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3"/>
                  </a:lnSpc>
                </a:pPr>
              </a:p>
            </p:txBody>
          </p:sp>
        </p:grpSp>
        <p:sp>
          <p:nvSpPr>
            <p:cNvPr name="TextBox 37" id="37"/>
            <p:cNvSpPr txBox="true"/>
            <p:nvPr/>
          </p:nvSpPr>
          <p:spPr>
            <a:xfrm rot="0">
              <a:off x="980985" y="226726"/>
              <a:ext cx="3696829" cy="85048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762434" indent="-381217" lvl="1">
                <a:lnSpc>
                  <a:spcPts val="4943"/>
                </a:lnSpc>
                <a:spcBef>
                  <a:spcPct val="0"/>
                </a:spcBef>
                <a:buAutoNum type="arabicPeriod" startAt="1"/>
              </a:pPr>
              <a:r>
                <a:rPr lang="en-US" b="true" sz="3531" spc="45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OUTPUT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0">
              <a:off x="651946" y="1191221"/>
              <a:ext cx="4354906" cy="135435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994"/>
                </a:lnSpc>
                <a:spcBef>
                  <a:spcPct val="0"/>
                </a:spcBef>
              </a:pPr>
              <a:r>
                <a:rPr lang="en-US" b="true" sz="2852" spc="37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Website updates immediately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4870909" y="3013348"/>
            <a:ext cx="1500270" cy="784006"/>
            <a:chOff x="0" y="0"/>
            <a:chExt cx="1153447" cy="602765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153447" cy="602765"/>
            </a:xfrm>
            <a:custGeom>
              <a:avLst/>
              <a:gdLst/>
              <a:ahLst/>
              <a:cxnLst/>
              <a:rect r="r" b="b" t="t" l="l"/>
              <a:pathLst>
                <a:path h="602765" w="1153447">
                  <a:moveTo>
                    <a:pt x="1153447" y="301382"/>
                  </a:moveTo>
                  <a:lnTo>
                    <a:pt x="747047" y="0"/>
                  </a:lnTo>
                  <a:lnTo>
                    <a:pt x="747047" y="203200"/>
                  </a:lnTo>
                  <a:lnTo>
                    <a:pt x="0" y="203200"/>
                  </a:lnTo>
                  <a:lnTo>
                    <a:pt x="0" y="399565"/>
                  </a:lnTo>
                  <a:lnTo>
                    <a:pt x="747047" y="399565"/>
                  </a:lnTo>
                  <a:lnTo>
                    <a:pt x="747047" y="602765"/>
                  </a:lnTo>
                  <a:lnTo>
                    <a:pt x="1153447" y="301382"/>
                  </a:lnTo>
                  <a:close/>
                </a:path>
              </a:pathLst>
            </a:custGeom>
            <a:gradFill rotWithShape="true">
              <a:gsLst>
                <a:gs pos="0">
                  <a:srgbClr val="FF3131">
                    <a:alpha val="100000"/>
                  </a:srgbClr>
                </a:gs>
                <a:gs pos="100000">
                  <a:srgbClr val="FF914D">
                    <a:alpha val="100000"/>
                  </a:srgbClr>
                </a:gs>
              </a:gsLst>
              <a:lin ang="0"/>
            </a:gra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1" id="41"/>
            <p:cNvSpPr txBox="true"/>
            <p:nvPr/>
          </p:nvSpPr>
          <p:spPr>
            <a:xfrm>
              <a:off x="0" y="98425"/>
              <a:ext cx="1051847" cy="301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3"/>
                </a:lnSpc>
              </a:pPr>
            </a:p>
          </p:txBody>
        </p:sp>
      </p:grpSp>
      <p:grpSp>
        <p:nvGrpSpPr>
          <p:cNvPr name="Group 42" id="42"/>
          <p:cNvGrpSpPr/>
          <p:nvPr/>
        </p:nvGrpSpPr>
        <p:grpSpPr>
          <a:xfrm rot="-10800000">
            <a:off x="11122462" y="7833473"/>
            <a:ext cx="1758919" cy="780812"/>
            <a:chOff x="0" y="0"/>
            <a:chExt cx="1357836" cy="602765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357836" cy="602765"/>
            </a:xfrm>
            <a:custGeom>
              <a:avLst/>
              <a:gdLst/>
              <a:ahLst/>
              <a:cxnLst/>
              <a:rect r="r" b="b" t="t" l="l"/>
              <a:pathLst>
                <a:path h="602765" w="1357836">
                  <a:moveTo>
                    <a:pt x="1357836" y="301382"/>
                  </a:moveTo>
                  <a:lnTo>
                    <a:pt x="951436" y="0"/>
                  </a:lnTo>
                  <a:lnTo>
                    <a:pt x="951436" y="203200"/>
                  </a:lnTo>
                  <a:lnTo>
                    <a:pt x="0" y="203200"/>
                  </a:lnTo>
                  <a:lnTo>
                    <a:pt x="0" y="399565"/>
                  </a:lnTo>
                  <a:lnTo>
                    <a:pt x="951436" y="399565"/>
                  </a:lnTo>
                  <a:lnTo>
                    <a:pt x="951436" y="602765"/>
                  </a:lnTo>
                  <a:lnTo>
                    <a:pt x="1357836" y="301382"/>
                  </a:lnTo>
                  <a:close/>
                </a:path>
              </a:pathLst>
            </a:custGeom>
            <a:gradFill rotWithShape="true">
              <a:gsLst>
                <a:gs pos="0">
                  <a:srgbClr val="FF3131">
                    <a:alpha val="100000"/>
                  </a:srgbClr>
                </a:gs>
                <a:gs pos="100000">
                  <a:srgbClr val="FF914D">
                    <a:alpha val="100000"/>
                  </a:srgbClr>
                </a:gs>
              </a:gsLst>
              <a:lin ang="0"/>
            </a:gra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4" id="44"/>
            <p:cNvSpPr txBox="true"/>
            <p:nvPr/>
          </p:nvSpPr>
          <p:spPr>
            <a:xfrm>
              <a:off x="0" y="98425"/>
              <a:ext cx="1256236" cy="301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3"/>
                </a:lnSpc>
              </a:pPr>
            </a:p>
          </p:txBody>
        </p:sp>
      </p:grpSp>
      <p:grpSp>
        <p:nvGrpSpPr>
          <p:cNvPr name="Group 45" id="45"/>
          <p:cNvGrpSpPr/>
          <p:nvPr/>
        </p:nvGrpSpPr>
        <p:grpSpPr>
          <a:xfrm rot="5400000">
            <a:off x="14694490" y="5426153"/>
            <a:ext cx="1724275" cy="840937"/>
            <a:chOff x="0" y="0"/>
            <a:chExt cx="1357836" cy="662223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357836" cy="662223"/>
            </a:xfrm>
            <a:custGeom>
              <a:avLst/>
              <a:gdLst/>
              <a:ahLst/>
              <a:cxnLst/>
              <a:rect r="r" b="b" t="t" l="l"/>
              <a:pathLst>
                <a:path h="662223" w="1357836">
                  <a:moveTo>
                    <a:pt x="1357836" y="331112"/>
                  </a:moveTo>
                  <a:lnTo>
                    <a:pt x="951436" y="0"/>
                  </a:lnTo>
                  <a:lnTo>
                    <a:pt x="951436" y="203200"/>
                  </a:lnTo>
                  <a:lnTo>
                    <a:pt x="0" y="203200"/>
                  </a:lnTo>
                  <a:lnTo>
                    <a:pt x="0" y="459023"/>
                  </a:lnTo>
                  <a:lnTo>
                    <a:pt x="951436" y="459023"/>
                  </a:lnTo>
                  <a:lnTo>
                    <a:pt x="951436" y="662223"/>
                  </a:lnTo>
                  <a:lnTo>
                    <a:pt x="1357836" y="331112"/>
                  </a:lnTo>
                  <a:close/>
                </a:path>
              </a:pathLst>
            </a:custGeom>
            <a:gradFill rotWithShape="true">
              <a:gsLst>
                <a:gs pos="0">
                  <a:srgbClr val="FF3131">
                    <a:alpha val="100000"/>
                  </a:srgbClr>
                </a:gs>
                <a:gs pos="100000">
                  <a:srgbClr val="FF914D">
                    <a:alpha val="100000"/>
                  </a:srgbClr>
                </a:gs>
              </a:gsLst>
              <a:lin ang="0"/>
            </a:gra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7" id="47"/>
            <p:cNvSpPr txBox="true"/>
            <p:nvPr/>
          </p:nvSpPr>
          <p:spPr>
            <a:xfrm>
              <a:off x="0" y="98425"/>
              <a:ext cx="1256236" cy="36059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3"/>
                </a:lnSpc>
              </a:pP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0985026" y="2953710"/>
            <a:ext cx="1751560" cy="843643"/>
            <a:chOff x="0" y="0"/>
            <a:chExt cx="1258739" cy="606275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1258739" cy="606275"/>
            </a:xfrm>
            <a:custGeom>
              <a:avLst/>
              <a:gdLst/>
              <a:ahLst/>
              <a:cxnLst/>
              <a:rect r="r" b="b" t="t" l="l"/>
              <a:pathLst>
                <a:path h="606275" w="1258739">
                  <a:moveTo>
                    <a:pt x="1258739" y="303137"/>
                  </a:moveTo>
                  <a:lnTo>
                    <a:pt x="852339" y="0"/>
                  </a:lnTo>
                  <a:lnTo>
                    <a:pt x="852339" y="203200"/>
                  </a:lnTo>
                  <a:lnTo>
                    <a:pt x="0" y="203200"/>
                  </a:lnTo>
                  <a:lnTo>
                    <a:pt x="0" y="403075"/>
                  </a:lnTo>
                  <a:lnTo>
                    <a:pt x="852339" y="403075"/>
                  </a:lnTo>
                  <a:lnTo>
                    <a:pt x="852339" y="606275"/>
                  </a:lnTo>
                  <a:lnTo>
                    <a:pt x="1258739" y="303137"/>
                  </a:lnTo>
                  <a:close/>
                </a:path>
              </a:pathLst>
            </a:custGeom>
            <a:gradFill rotWithShape="true">
              <a:gsLst>
                <a:gs pos="0">
                  <a:srgbClr val="FF3131">
                    <a:alpha val="100000"/>
                  </a:srgbClr>
                </a:gs>
                <a:gs pos="100000">
                  <a:srgbClr val="FF914D">
                    <a:alpha val="100000"/>
                  </a:srgbClr>
                </a:gs>
              </a:gsLst>
              <a:lin ang="0"/>
            </a:gra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50" id="50"/>
            <p:cNvSpPr txBox="true"/>
            <p:nvPr/>
          </p:nvSpPr>
          <p:spPr>
            <a:xfrm>
              <a:off x="0" y="98425"/>
              <a:ext cx="1157139" cy="3046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3"/>
                </a:lnSpc>
              </a:pPr>
            </a:p>
          </p:txBody>
        </p:sp>
      </p:grpSp>
      <p:grpSp>
        <p:nvGrpSpPr>
          <p:cNvPr name="Group 51" id="51"/>
          <p:cNvGrpSpPr/>
          <p:nvPr/>
        </p:nvGrpSpPr>
        <p:grpSpPr>
          <a:xfrm rot="-10800000">
            <a:off x="4766134" y="7849477"/>
            <a:ext cx="1605045" cy="764807"/>
            <a:chOff x="0" y="0"/>
            <a:chExt cx="1346452" cy="641587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1346452" cy="641587"/>
            </a:xfrm>
            <a:custGeom>
              <a:avLst/>
              <a:gdLst/>
              <a:ahLst/>
              <a:cxnLst/>
              <a:rect r="r" b="b" t="t" l="l"/>
              <a:pathLst>
                <a:path h="641587" w="1346452">
                  <a:moveTo>
                    <a:pt x="1346452" y="320794"/>
                  </a:moveTo>
                  <a:lnTo>
                    <a:pt x="940052" y="0"/>
                  </a:lnTo>
                  <a:lnTo>
                    <a:pt x="940052" y="203200"/>
                  </a:lnTo>
                  <a:lnTo>
                    <a:pt x="0" y="203200"/>
                  </a:lnTo>
                  <a:lnTo>
                    <a:pt x="0" y="438387"/>
                  </a:lnTo>
                  <a:lnTo>
                    <a:pt x="940052" y="438387"/>
                  </a:lnTo>
                  <a:lnTo>
                    <a:pt x="940052" y="641587"/>
                  </a:lnTo>
                  <a:lnTo>
                    <a:pt x="1346452" y="320794"/>
                  </a:lnTo>
                  <a:close/>
                </a:path>
              </a:pathLst>
            </a:custGeom>
            <a:gradFill rotWithShape="true">
              <a:gsLst>
                <a:gs pos="0">
                  <a:srgbClr val="FF3131">
                    <a:alpha val="100000"/>
                  </a:srgbClr>
                </a:gs>
                <a:gs pos="100000">
                  <a:srgbClr val="FF914D">
                    <a:alpha val="100000"/>
                  </a:srgbClr>
                </a:gs>
              </a:gsLst>
              <a:lin ang="0"/>
            </a:gra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53" id="53"/>
            <p:cNvSpPr txBox="true"/>
            <p:nvPr/>
          </p:nvSpPr>
          <p:spPr>
            <a:xfrm>
              <a:off x="0" y="98425"/>
              <a:ext cx="1244852" cy="3399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3"/>
                </a:lnSpc>
              </a:pPr>
            </a:p>
          </p:txBody>
        </p:sp>
      </p:grpSp>
      <p:sp>
        <p:nvSpPr>
          <p:cNvPr name="TextBox 54" id="54"/>
          <p:cNvSpPr txBox="true"/>
          <p:nvPr/>
        </p:nvSpPr>
        <p:spPr>
          <a:xfrm rot="0">
            <a:off x="275792" y="155283"/>
            <a:ext cx="10846670" cy="1043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073"/>
              </a:lnSpc>
              <a:spcBef>
                <a:spcPct val="0"/>
              </a:spcBef>
            </a:pPr>
            <a:r>
              <a:rPr lang="en-US" b="true" sz="643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Functionality – Real-time Mode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5911" y="2152816"/>
            <a:ext cx="4310782" cy="2543124"/>
            <a:chOff x="0" y="0"/>
            <a:chExt cx="5747709" cy="3390832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5747709" cy="3390832"/>
              <a:chOff x="0" y="0"/>
              <a:chExt cx="823695" cy="485935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823695" cy="485935"/>
              </a:xfrm>
              <a:custGeom>
                <a:avLst/>
                <a:gdLst/>
                <a:ahLst/>
                <a:cxnLst/>
                <a:rect r="r" b="b" t="t" l="l"/>
                <a:pathLst>
                  <a:path h="485935" w="823695">
                    <a:moveTo>
                      <a:pt x="126248" y="0"/>
                    </a:moveTo>
                    <a:lnTo>
                      <a:pt x="697447" y="0"/>
                    </a:lnTo>
                    <a:cubicBezTo>
                      <a:pt x="730930" y="0"/>
                      <a:pt x="763042" y="13301"/>
                      <a:pt x="786718" y="36977"/>
                    </a:cubicBezTo>
                    <a:cubicBezTo>
                      <a:pt x="810394" y="60653"/>
                      <a:pt x="823695" y="92765"/>
                      <a:pt x="823695" y="126248"/>
                    </a:cubicBezTo>
                    <a:lnTo>
                      <a:pt x="823695" y="359687"/>
                    </a:lnTo>
                    <a:cubicBezTo>
                      <a:pt x="823695" y="393170"/>
                      <a:pt x="810394" y="425282"/>
                      <a:pt x="786718" y="448958"/>
                    </a:cubicBezTo>
                    <a:cubicBezTo>
                      <a:pt x="763042" y="472634"/>
                      <a:pt x="730930" y="485935"/>
                      <a:pt x="697447" y="485935"/>
                    </a:cubicBezTo>
                    <a:lnTo>
                      <a:pt x="126248" y="485935"/>
                    </a:lnTo>
                    <a:cubicBezTo>
                      <a:pt x="92765" y="485935"/>
                      <a:pt x="60653" y="472634"/>
                      <a:pt x="36977" y="448958"/>
                    </a:cubicBezTo>
                    <a:cubicBezTo>
                      <a:pt x="13301" y="425282"/>
                      <a:pt x="0" y="393170"/>
                      <a:pt x="0" y="359687"/>
                    </a:cubicBezTo>
                    <a:lnTo>
                      <a:pt x="0" y="126248"/>
                    </a:lnTo>
                    <a:cubicBezTo>
                      <a:pt x="0" y="92765"/>
                      <a:pt x="13301" y="60653"/>
                      <a:pt x="36977" y="36977"/>
                    </a:cubicBezTo>
                    <a:cubicBezTo>
                      <a:pt x="60653" y="13301"/>
                      <a:pt x="92765" y="0"/>
                      <a:pt x="126248" y="0"/>
                    </a:cubicBezTo>
                    <a:close/>
                  </a:path>
                </a:pathLst>
              </a:custGeom>
              <a:solidFill>
                <a:srgbClr val="FFEB99"/>
              </a:solidFill>
              <a:ln w="38100" cap="rnd">
                <a:solidFill>
                  <a:srgbClr val="000000"/>
                </a:solidFill>
                <a:prstDash val="dash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04775"/>
                <a:ext cx="823695" cy="59071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3"/>
                  </a:lnSpc>
                </a:pPr>
              </a:p>
            </p:txBody>
          </p:sp>
        </p:grpSp>
        <p:sp>
          <p:nvSpPr>
            <p:cNvPr name="TextBox 6" id="6"/>
            <p:cNvSpPr txBox="true"/>
            <p:nvPr/>
          </p:nvSpPr>
          <p:spPr>
            <a:xfrm rot="0">
              <a:off x="1329251" y="300913"/>
              <a:ext cx="2683724" cy="87113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774413" indent="-387206" lvl="1">
                <a:lnSpc>
                  <a:spcPts val="5021"/>
                </a:lnSpc>
                <a:spcBef>
                  <a:spcPct val="0"/>
                </a:spcBef>
                <a:buAutoNum type="arabicPeriod" startAt="1"/>
              </a:pPr>
              <a:r>
                <a:rPr lang="en-US" b="true" sz="3586" spc="46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DRAW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1250962"/>
              <a:ext cx="5747709" cy="144437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210"/>
                </a:lnSpc>
                <a:spcBef>
                  <a:spcPct val="0"/>
                </a:spcBef>
              </a:pPr>
              <a:r>
                <a:rPr lang="en-US" b="true" sz="3007" spc="39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Sketch website by pen·line·frame·text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468034" y="2152816"/>
            <a:ext cx="4310782" cy="2543124"/>
            <a:chOff x="0" y="0"/>
            <a:chExt cx="5747709" cy="3390832"/>
          </a:xfrm>
        </p:grpSpPr>
        <p:grpSp>
          <p:nvGrpSpPr>
            <p:cNvPr name="Group 9" id="9"/>
            <p:cNvGrpSpPr/>
            <p:nvPr/>
          </p:nvGrpSpPr>
          <p:grpSpPr>
            <a:xfrm rot="0">
              <a:off x="0" y="0"/>
              <a:ext cx="5747709" cy="3390832"/>
              <a:chOff x="0" y="0"/>
              <a:chExt cx="823695" cy="48593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23695" cy="485935"/>
              </a:xfrm>
              <a:custGeom>
                <a:avLst/>
                <a:gdLst/>
                <a:ahLst/>
                <a:cxnLst/>
                <a:rect r="r" b="b" t="t" l="l"/>
                <a:pathLst>
                  <a:path h="485935" w="823695">
                    <a:moveTo>
                      <a:pt x="126248" y="0"/>
                    </a:moveTo>
                    <a:lnTo>
                      <a:pt x="697447" y="0"/>
                    </a:lnTo>
                    <a:cubicBezTo>
                      <a:pt x="730930" y="0"/>
                      <a:pt x="763042" y="13301"/>
                      <a:pt x="786718" y="36977"/>
                    </a:cubicBezTo>
                    <a:cubicBezTo>
                      <a:pt x="810394" y="60653"/>
                      <a:pt x="823695" y="92765"/>
                      <a:pt x="823695" y="126248"/>
                    </a:cubicBezTo>
                    <a:lnTo>
                      <a:pt x="823695" y="359687"/>
                    </a:lnTo>
                    <a:cubicBezTo>
                      <a:pt x="823695" y="393170"/>
                      <a:pt x="810394" y="425282"/>
                      <a:pt x="786718" y="448958"/>
                    </a:cubicBezTo>
                    <a:cubicBezTo>
                      <a:pt x="763042" y="472634"/>
                      <a:pt x="730930" y="485935"/>
                      <a:pt x="697447" y="485935"/>
                    </a:cubicBezTo>
                    <a:lnTo>
                      <a:pt x="126248" y="485935"/>
                    </a:lnTo>
                    <a:cubicBezTo>
                      <a:pt x="92765" y="485935"/>
                      <a:pt x="60653" y="472634"/>
                      <a:pt x="36977" y="448958"/>
                    </a:cubicBezTo>
                    <a:cubicBezTo>
                      <a:pt x="13301" y="425282"/>
                      <a:pt x="0" y="393170"/>
                      <a:pt x="0" y="359687"/>
                    </a:cubicBezTo>
                    <a:lnTo>
                      <a:pt x="0" y="126248"/>
                    </a:lnTo>
                    <a:cubicBezTo>
                      <a:pt x="0" y="92765"/>
                      <a:pt x="13301" y="60653"/>
                      <a:pt x="36977" y="36977"/>
                    </a:cubicBezTo>
                    <a:cubicBezTo>
                      <a:pt x="60653" y="13301"/>
                      <a:pt x="92765" y="0"/>
                      <a:pt x="126248" y="0"/>
                    </a:cubicBezTo>
                    <a:close/>
                  </a:path>
                </a:pathLst>
              </a:custGeom>
              <a:solidFill>
                <a:srgbClr val="FFE7C2"/>
              </a:solidFill>
              <a:ln w="38100" cap="rnd">
                <a:solidFill>
                  <a:srgbClr val="000000"/>
                </a:solidFill>
                <a:prstDash val="dash"/>
                <a:round/>
              </a:ln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104775"/>
                <a:ext cx="823695" cy="59071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3"/>
                  </a:lnSpc>
                </a:pPr>
              </a:p>
            </p:txBody>
          </p:sp>
        </p:grpSp>
        <p:sp>
          <p:nvSpPr>
            <p:cNvPr name="TextBox 12" id="12"/>
            <p:cNvSpPr txBox="true"/>
            <p:nvPr/>
          </p:nvSpPr>
          <p:spPr>
            <a:xfrm rot="0">
              <a:off x="1088494" y="300913"/>
              <a:ext cx="3570720" cy="87113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774413" indent="-387206" lvl="1">
                <a:lnSpc>
                  <a:spcPts val="5021"/>
                </a:lnSpc>
                <a:spcBef>
                  <a:spcPct val="0"/>
                </a:spcBef>
                <a:buAutoNum type="arabicPeriod" startAt="1"/>
              </a:pPr>
              <a:r>
                <a:rPr lang="en-US" b="true" sz="3586" spc="46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ANALYZE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1260487"/>
              <a:ext cx="5747709" cy="13877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056"/>
                </a:lnSpc>
                <a:spcBef>
                  <a:spcPct val="0"/>
                </a:spcBef>
              </a:pPr>
              <a:r>
                <a:rPr lang="en-US" b="true" sz="2897" spc="37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Recognition starts automatically · 1000ms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3211166" y="7016330"/>
            <a:ext cx="4690923" cy="2543124"/>
            <a:chOff x="0" y="0"/>
            <a:chExt cx="6254564" cy="3390832"/>
          </a:xfrm>
        </p:grpSpPr>
        <p:grpSp>
          <p:nvGrpSpPr>
            <p:cNvPr name="Group 15" id="15"/>
            <p:cNvGrpSpPr/>
            <p:nvPr/>
          </p:nvGrpSpPr>
          <p:grpSpPr>
            <a:xfrm rot="0">
              <a:off x="0" y="0"/>
              <a:ext cx="5747709" cy="3390832"/>
              <a:chOff x="0" y="0"/>
              <a:chExt cx="823695" cy="485935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23695" cy="485935"/>
              </a:xfrm>
              <a:custGeom>
                <a:avLst/>
                <a:gdLst/>
                <a:ahLst/>
                <a:cxnLst/>
                <a:rect r="r" b="b" t="t" l="l"/>
                <a:pathLst>
                  <a:path h="485935" w="823695">
                    <a:moveTo>
                      <a:pt x="126248" y="0"/>
                    </a:moveTo>
                    <a:lnTo>
                      <a:pt x="697447" y="0"/>
                    </a:lnTo>
                    <a:cubicBezTo>
                      <a:pt x="730930" y="0"/>
                      <a:pt x="763042" y="13301"/>
                      <a:pt x="786718" y="36977"/>
                    </a:cubicBezTo>
                    <a:cubicBezTo>
                      <a:pt x="810394" y="60653"/>
                      <a:pt x="823695" y="92765"/>
                      <a:pt x="823695" y="126248"/>
                    </a:cubicBezTo>
                    <a:lnTo>
                      <a:pt x="823695" y="359687"/>
                    </a:lnTo>
                    <a:cubicBezTo>
                      <a:pt x="823695" y="393170"/>
                      <a:pt x="810394" y="425282"/>
                      <a:pt x="786718" y="448958"/>
                    </a:cubicBezTo>
                    <a:cubicBezTo>
                      <a:pt x="763042" y="472634"/>
                      <a:pt x="730930" y="485935"/>
                      <a:pt x="697447" y="485935"/>
                    </a:cubicBezTo>
                    <a:lnTo>
                      <a:pt x="126248" y="485935"/>
                    </a:lnTo>
                    <a:cubicBezTo>
                      <a:pt x="92765" y="485935"/>
                      <a:pt x="60653" y="472634"/>
                      <a:pt x="36977" y="448958"/>
                    </a:cubicBezTo>
                    <a:cubicBezTo>
                      <a:pt x="13301" y="425282"/>
                      <a:pt x="0" y="393170"/>
                      <a:pt x="0" y="359687"/>
                    </a:cubicBezTo>
                    <a:lnTo>
                      <a:pt x="0" y="126248"/>
                    </a:lnTo>
                    <a:cubicBezTo>
                      <a:pt x="0" y="92765"/>
                      <a:pt x="13301" y="60653"/>
                      <a:pt x="36977" y="36977"/>
                    </a:cubicBezTo>
                    <a:cubicBezTo>
                      <a:pt x="60653" y="13301"/>
                      <a:pt x="92765" y="0"/>
                      <a:pt x="126248" y="0"/>
                    </a:cubicBezTo>
                    <a:close/>
                  </a:path>
                </a:pathLst>
              </a:custGeom>
              <a:solidFill>
                <a:srgbClr val="FFC2C2"/>
              </a:solidFill>
              <a:ln w="38100" cap="rnd">
                <a:solidFill>
                  <a:srgbClr val="000000"/>
                </a:solidFill>
                <a:prstDash val="dash"/>
                <a:round/>
              </a:ln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104775"/>
                <a:ext cx="823695" cy="59071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3"/>
                  </a:lnSpc>
                </a:pPr>
              </a:p>
            </p:txBody>
          </p:sp>
        </p:grpSp>
        <p:sp>
          <p:nvSpPr>
            <p:cNvPr name="TextBox 18" id="18"/>
            <p:cNvSpPr txBox="true"/>
            <p:nvPr/>
          </p:nvSpPr>
          <p:spPr>
            <a:xfrm rot="0">
              <a:off x="1421374" y="-23884"/>
              <a:ext cx="2683724" cy="87113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774413" indent="-387206" lvl="1">
                <a:lnSpc>
                  <a:spcPts val="5021"/>
                </a:lnSpc>
                <a:spcBef>
                  <a:spcPct val="0"/>
                </a:spcBef>
                <a:buAutoNum type="arabicPeriod" startAt="1"/>
              </a:pPr>
              <a:r>
                <a:rPr lang="en-US" b="true" sz="3586" spc="46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INFER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506855" y="1260487"/>
              <a:ext cx="5747709" cy="69874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056"/>
                </a:lnSpc>
                <a:spcBef>
                  <a:spcPct val="0"/>
                </a:spcBef>
              </a:pP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485884" y="866179"/>
              <a:ext cx="4878154" cy="23566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511"/>
                </a:lnSpc>
              </a:pPr>
              <a:r>
                <a:rPr lang="en-US" b="true" sz="2508" spc="32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Stroke context predicts component function</a:t>
              </a:r>
            </a:p>
            <a:p>
              <a:pPr algn="ctr">
                <a:lnSpc>
                  <a:spcPts val="3511"/>
                </a:lnSpc>
                <a:spcBef>
                  <a:spcPct val="0"/>
                </a:spcBef>
              </a:pPr>
              <a:r>
                <a:rPr lang="en-US" b="true" sz="2508" spc="32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(Navbar·Hero·Cards·Form·Footer)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6504529" y="7016330"/>
            <a:ext cx="4310782" cy="2543124"/>
            <a:chOff x="0" y="0"/>
            <a:chExt cx="5747709" cy="3390832"/>
          </a:xfrm>
        </p:grpSpPr>
        <p:grpSp>
          <p:nvGrpSpPr>
            <p:cNvPr name="Group 22" id="22"/>
            <p:cNvGrpSpPr/>
            <p:nvPr/>
          </p:nvGrpSpPr>
          <p:grpSpPr>
            <a:xfrm rot="0">
              <a:off x="0" y="0"/>
              <a:ext cx="5747709" cy="3390832"/>
              <a:chOff x="0" y="0"/>
              <a:chExt cx="823695" cy="485935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823695" cy="485935"/>
              </a:xfrm>
              <a:custGeom>
                <a:avLst/>
                <a:gdLst/>
                <a:ahLst/>
                <a:cxnLst/>
                <a:rect r="r" b="b" t="t" l="l"/>
                <a:pathLst>
                  <a:path h="485935" w="823695">
                    <a:moveTo>
                      <a:pt x="126248" y="0"/>
                    </a:moveTo>
                    <a:lnTo>
                      <a:pt x="697447" y="0"/>
                    </a:lnTo>
                    <a:cubicBezTo>
                      <a:pt x="730930" y="0"/>
                      <a:pt x="763042" y="13301"/>
                      <a:pt x="786718" y="36977"/>
                    </a:cubicBezTo>
                    <a:cubicBezTo>
                      <a:pt x="810394" y="60653"/>
                      <a:pt x="823695" y="92765"/>
                      <a:pt x="823695" y="126248"/>
                    </a:cubicBezTo>
                    <a:lnTo>
                      <a:pt x="823695" y="359687"/>
                    </a:lnTo>
                    <a:cubicBezTo>
                      <a:pt x="823695" y="393170"/>
                      <a:pt x="810394" y="425282"/>
                      <a:pt x="786718" y="448958"/>
                    </a:cubicBezTo>
                    <a:cubicBezTo>
                      <a:pt x="763042" y="472634"/>
                      <a:pt x="730930" y="485935"/>
                      <a:pt x="697447" y="485935"/>
                    </a:cubicBezTo>
                    <a:lnTo>
                      <a:pt x="126248" y="485935"/>
                    </a:lnTo>
                    <a:cubicBezTo>
                      <a:pt x="92765" y="485935"/>
                      <a:pt x="60653" y="472634"/>
                      <a:pt x="36977" y="448958"/>
                    </a:cubicBezTo>
                    <a:cubicBezTo>
                      <a:pt x="13301" y="425282"/>
                      <a:pt x="0" y="393170"/>
                      <a:pt x="0" y="359687"/>
                    </a:cubicBezTo>
                    <a:lnTo>
                      <a:pt x="0" y="126248"/>
                    </a:lnTo>
                    <a:cubicBezTo>
                      <a:pt x="0" y="92765"/>
                      <a:pt x="13301" y="60653"/>
                      <a:pt x="36977" y="36977"/>
                    </a:cubicBezTo>
                    <a:cubicBezTo>
                      <a:pt x="60653" y="13301"/>
                      <a:pt x="92765" y="0"/>
                      <a:pt x="126248" y="0"/>
                    </a:cubicBezTo>
                    <a:close/>
                  </a:path>
                </a:pathLst>
              </a:custGeom>
              <a:solidFill>
                <a:srgbClr val="FF914D"/>
              </a:solidFill>
              <a:ln w="38100" cap="rnd">
                <a:solidFill>
                  <a:srgbClr val="000000"/>
                </a:solidFill>
                <a:prstDash val="dash"/>
                <a:round/>
              </a:ln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104775"/>
                <a:ext cx="823695" cy="59071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3"/>
                  </a:lnSpc>
                </a:pPr>
              </a:p>
            </p:txBody>
          </p:sp>
        </p:grpSp>
        <p:sp>
          <p:nvSpPr>
            <p:cNvPr name="TextBox 25" id="25"/>
            <p:cNvSpPr txBox="true"/>
            <p:nvPr/>
          </p:nvSpPr>
          <p:spPr>
            <a:xfrm rot="0">
              <a:off x="967538" y="106274"/>
              <a:ext cx="3812633" cy="87113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774413" indent="-387206" lvl="1">
                <a:lnSpc>
                  <a:spcPts val="5021"/>
                </a:lnSpc>
                <a:spcBef>
                  <a:spcPct val="0"/>
                </a:spcBef>
                <a:buAutoNum type="arabicPeriod" startAt="1"/>
              </a:pPr>
              <a:r>
                <a:rPr lang="en-US" b="true" sz="3586" spc="46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CORRECT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0" y="944385"/>
              <a:ext cx="5747709" cy="13877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056"/>
                </a:lnSpc>
                <a:spcBef>
                  <a:spcPct val="0"/>
                </a:spcBef>
              </a:pPr>
              <a:r>
                <a:rPr lang="en-US" b="true" sz="2897" spc="37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user verifies the interpretation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385911" y="7016330"/>
            <a:ext cx="4244099" cy="2505402"/>
            <a:chOff x="0" y="0"/>
            <a:chExt cx="5658798" cy="3340536"/>
          </a:xfrm>
        </p:grpSpPr>
        <p:grpSp>
          <p:nvGrpSpPr>
            <p:cNvPr name="Group 28" id="28"/>
            <p:cNvGrpSpPr/>
            <p:nvPr/>
          </p:nvGrpSpPr>
          <p:grpSpPr>
            <a:xfrm rot="0">
              <a:off x="0" y="0"/>
              <a:ext cx="5658798" cy="3340536"/>
              <a:chOff x="0" y="0"/>
              <a:chExt cx="823695" cy="486249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823695" cy="486249"/>
              </a:xfrm>
              <a:custGeom>
                <a:avLst/>
                <a:gdLst/>
                <a:ahLst/>
                <a:cxnLst/>
                <a:rect r="r" b="b" t="t" l="l"/>
                <a:pathLst>
                  <a:path h="486249" w="823695">
                    <a:moveTo>
                      <a:pt x="126248" y="0"/>
                    </a:moveTo>
                    <a:lnTo>
                      <a:pt x="697447" y="0"/>
                    </a:lnTo>
                    <a:cubicBezTo>
                      <a:pt x="730930" y="0"/>
                      <a:pt x="763042" y="13301"/>
                      <a:pt x="786718" y="36977"/>
                    </a:cubicBezTo>
                    <a:cubicBezTo>
                      <a:pt x="810394" y="60653"/>
                      <a:pt x="823695" y="92765"/>
                      <a:pt x="823695" y="126248"/>
                    </a:cubicBezTo>
                    <a:lnTo>
                      <a:pt x="823695" y="360000"/>
                    </a:lnTo>
                    <a:cubicBezTo>
                      <a:pt x="823695" y="393484"/>
                      <a:pt x="810394" y="425595"/>
                      <a:pt x="786718" y="449272"/>
                    </a:cubicBezTo>
                    <a:cubicBezTo>
                      <a:pt x="763042" y="472948"/>
                      <a:pt x="730930" y="486249"/>
                      <a:pt x="697447" y="486249"/>
                    </a:cubicBezTo>
                    <a:lnTo>
                      <a:pt x="126248" y="486249"/>
                    </a:lnTo>
                    <a:cubicBezTo>
                      <a:pt x="92765" y="486249"/>
                      <a:pt x="60653" y="472948"/>
                      <a:pt x="36977" y="449272"/>
                    </a:cubicBezTo>
                    <a:cubicBezTo>
                      <a:pt x="13301" y="425595"/>
                      <a:pt x="0" y="393484"/>
                      <a:pt x="0" y="360000"/>
                    </a:cubicBezTo>
                    <a:lnTo>
                      <a:pt x="0" y="126248"/>
                    </a:lnTo>
                    <a:cubicBezTo>
                      <a:pt x="0" y="92765"/>
                      <a:pt x="13301" y="60653"/>
                      <a:pt x="36977" y="36977"/>
                    </a:cubicBezTo>
                    <a:cubicBezTo>
                      <a:pt x="60653" y="13301"/>
                      <a:pt x="92765" y="0"/>
                      <a:pt x="126248" y="0"/>
                    </a:cubicBezTo>
                    <a:close/>
                  </a:path>
                </a:pathLst>
              </a:custGeom>
              <a:solidFill>
                <a:srgbClr val="FFD21F"/>
              </a:solidFill>
              <a:ln w="38100" cap="rnd">
                <a:solidFill>
                  <a:srgbClr val="000000"/>
                </a:solidFill>
                <a:prstDash val="dash"/>
                <a:round/>
              </a:ln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104775"/>
                <a:ext cx="823695" cy="59102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3"/>
                  </a:lnSpc>
                </a:pPr>
              </a:p>
            </p:txBody>
          </p:sp>
        </p:grpSp>
        <p:sp>
          <p:nvSpPr>
            <p:cNvPr name="TextBox 31" id="31"/>
            <p:cNvSpPr txBox="true"/>
            <p:nvPr/>
          </p:nvSpPr>
          <p:spPr>
            <a:xfrm rot="0">
              <a:off x="980985" y="226726"/>
              <a:ext cx="3696829" cy="85048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762434" indent="-381217" lvl="1">
                <a:lnSpc>
                  <a:spcPts val="4943"/>
                </a:lnSpc>
                <a:spcBef>
                  <a:spcPct val="0"/>
                </a:spcBef>
                <a:buAutoNum type="arabicPeriod" startAt="1"/>
              </a:pPr>
              <a:r>
                <a:rPr lang="en-US" b="true" sz="3531" spc="45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OUTPUT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651946" y="1191221"/>
              <a:ext cx="4354906" cy="135435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994"/>
                </a:lnSpc>
                <a:spcBef>
                  <a:spcPct val="0"/>
                </a:spcBef>
              </a:pPr>
              <a:r>
                <a:rPr lang="en-US" b="true" sz="2852" spc="37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Website updates immediately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4870909" y="3013348"/>
            <a:ext cx="1500270" cy="784006"/>
            <a:chOff x="0" y="0"/>
            <a:chExt cx="1153447" cy="602765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153447" cy="602765"/>
            </a:xfrm>
            <a:custGeom>
              <a:avLst/>
              <a:gdLst/>
              <a:ahLst/>
              <a:cxnLst/>
              <a:rect r="r" b="b" t="t" l="l"/>
              <a:pathLst>
                <a:path h="602765" w="1153447">
                  <a:moveTo>
                    <a:pt x="1153447" y="301382"/>
                  </a:moveTo>
                  <a:lnTo>
                    <a:pt x="747047" y="0"/>
                  </a:lnTo>
                  <a:lnTo>
                    <a:pt x="747047" y="203200"/>
                  </a:lnTo>
                  <a:lnTo>
                    <a:pt x="0" y="203200"/>
                  </a:lnTo>
                  <a:lnTo>
                    <a:pt x="0" y="399565"/>
                  </a:lnTo>
                  <a:lnTo>
                    <a:pt x="747047" y="399565"/>
                  </a:lnTo>
                  <a:lnTo>
                    <a:pt x="747047" y="602765"/>
                  </a:lnTo>
                  <a:lnTo>
                    <a:pt x="1153447" y="301382"/>
                  </a:lnTo>
                  <a:close/>
                </a:path>
              </a:pathLst>
            </a:custGeom>
            <a:gradFill rotWithShape="true">
              <a:gsLst>
                <a:gs pos="0">
                  <a:srgbClr val="FF3131">
                    <a:alpha val="100000"/>
                  </a:srgbClr>
                </a:gs>
                <a:gs pos="100000">
                  <a:srgbClr val="FF914D">
                    <a:alpha val="100000"/>
                  </a:srgbClr>
                </a:gs>
              </a:gsLst>
              <a:lin ang="0"/>
            </a:gra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5" id="35"/>
            <p:cNvSpPr txBox="true"/>
            <p:nvPr/>
          </p:nvSpPr>
          <p:spPr>
            <a:xfrm>
              <a:off x="0" y="98425"/>
              <a:ext cx="1051847" cy="301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3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-10800000">
            <a:off x="11122462" y="7833473"/>
            <a:ext cx="1758919" cy="780812"/>
            <a:chOff x="0" y="0"/>
            <a:chExt cx="1357836" cy="602765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357836" cy="602765"/>
            </a:xfrm>
            <a:custGeom>
              <a:avLst/>
              <a:gdLst/>
              <a:ahLst/>
              <a:cxnLst/>
              <a:rect r="r" b="b" t="t" l="l"/>
              <a:pathLst>
                <a:path h="602765" w="1357836">
                  <a:moveTo>
                    <a:pt x="1357836" y="301382"/>
                  </a:moveTo>
                  <a:lnTo>
                    <a:pt x="951436" y="0"/>
                  </a:lnTo>
                  <a:lnTo>
                    <a:pt x="951436" y="203200"/>
                  </a:lnTo>
                  <a:lnTo>
                    <a:pt x="0" y="203200"/>
                  </a:lnTo>
                  <a:lnTo>
                    <a:pt x="0" y="399565"/>
                  </a:lnTo>
                  <a:lnTo>
                    <a:pt x="951436" y="399565"/>
                  </a:lnTo>
                  <a:lnTo>
                    <a:pt x="951436" y="602765"/>
                  </a:lnTo>
                  <a:lnTo>
                    <a:pt x="1357836" y="301382"/>
                  </a:lnTo>
                  <a:close/>
                </a:path>
              </a:pathLst>
            </a:custGeom>
            <a:gradFill rotWithShape="true">
              <a:gsLst>
                <a:gs pos="0">
                  <a:srgbClr val="FF3131">
                    <a:alpha val="100000"/>
                  </a:srgbClr>
                </a:gs>
                <a:gs pos="100000">
                  <a:srgbClr val="FF914D">
                    <a:alpha val="100000"/>
                  </a:srgbClr>
                </a:gs>
              </a:gsLst>
              <a:lin ang="0"/>
            </a:gra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98425"/>
              <a:ext cx="1256236" cy="3011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3"/>
                </a:lnSpc>
              </a:pPr>
            </a:p>
          </p:txBody>
        </p:sp>
      </p:grpSp>
      <p:grpSp>
        <p:nvGrpSpPr>
          <p:cNvPr name="Group 39" id="39"/>
          <p:cNvGrpSpPr/>
          <p:nvPr/>
        </p:nvGrpSpPr>
        <p:grpSpPr>
          <a:xfrm rot="5400000">
            <a:off x="14694490" y="5426153"/>
            <a:ext cx="1724275" cy="840937"/>
            <a:chOff x="0" y="0"/>
            <a:chExt cx="1357836" cy="662223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357836" cy="662223"/>
            </a:xfrm>
            <a:custGeom>
              <a:avLst/>
              <a:gdLst/>
              <a:ahLst/>
              <a:cxnLst/>
              <a:rect r="r" b="b" t="t" l="l"/>
              <a:pathLst>
                <a:path h="662223" w="1357836">
                  <a:moveTo>
                    <a:pt x="1357836" y="331112"/>
                  </a:moveTo>
                  <a:lnTo>
                    <a:pt x="951436" y="0"/>
                  </a:lnTo>
                  <a:lnTo>
                    <a:pt x="951436" y="203200"/>
                  </a:lnTo>
                  <a:lnTo>
                    <a:pt x="0" y="203200"/>
                  </a:lnTo>
                  <a:lnTo>
                    <a:pt x="0" y="459023"/>
                  </a:lnTo>
                  <a:lnTo>
                    <a:pt x="951436" y="459023"/>
                  </a:lnTo>
                  <a:lnTo>
                    <a:pt x="951436" y="662223"/>
                  </a:lnTo>
                  <a:lnTo>
                    <a:pt x="1357836" y="331112"/>
                  </a:lnTo>
                  <a:close/>
                </a:path>
              </a:pathLst>
            </a:custGeom>
            <a:gradFill rotWithShape="true">
              <a:gsLst>
                <a:gs pos="0">
                  <a:srgbClr val="FF3131">
                    <a:alpha val="100000"/>
                  </a:srgbClr>
                </a:gs>
                <a:gs pos="100000">
                  <a:srgbClr val="FF914D">
                    <a:alpha val="100000"/>
                  </a:srgbClr>
                </a:gs>
              </a:gsLst>
              <a:lin ang="0"/>
            </a:gra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1" id="41"/>
            <p:cNvSpPr txBox="true"/>
            <p:nvPr/>
          </p:nvSpPr>
          <p:spPr>
            <a:xfrm>
              <a:off x="0" y="98425"/>
              <a:ext cx="1256236" cy="36059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3"/>
                </a:lnSpc>
              </a:pP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10985026" y="2953710"/>
            <a:ext cx="1751560" cy="843643"/>
            <a:chOff x="0" y="0"/>
            <a:chExt cx="1258739" cy="606275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258739" cy="606275"/>
            </a:xfrm>
            <a:custGeom>
              <a:avLst/>
              <a:gdLst/>
              <a:ahLst/>
              <a:cxnLst/>
              <a:rect r="r" b="b" t="t" l="l"/>
              <a:pathLst>
                <a:path h="606275" w="1258739">
                  <a:moveTo>
                    <a:pt x="1258739" y="303137"/>
                  </a:moveTo>
                  <a:lnTo>
                    <a:pt x="852339" y="0"/>
                  </a:lnTo>
                  <a:lnTo>
                    <a:pt x="852339" y="203200"/>
                  </a:lnTo>
                  <a:lnTo>
                    <a:pt x="0" y="203200"/>
                  </a:lnTo>
                  <a:lnTo>
                    <a:pt x="0" y="403075"/>
                  </a:lnTo>
                  <a:lnTo>
                    <a:pt x="852339" y="403075"/>
                  </a:lnTo>
                  <a:lnTo>
                    <a:pt x="852339" y="606275"/>
                  </a:lnTo>
                  <a:lnTo>
                    <a:pt x="1258739" y="303137"/>
                  </a:lnTo>
                  <a:close/>
                </a:path>
              </a:pathLst>
            </a:custGeom>
            <a:gradFill rotWithShape="true">
              <a:gsLst>
                <a:gs pos="0">
                  <a:srgbClr val="FF3131">
                    <a:alpha val="100000"/>
                  </a:srgbClr>
                </a:gs>
                <a:gs pos="100000">
                  <a:srgbClr val="FF914D">
                    <a:alpha val="100000"/>
                  </a:srgbClr>
                </a:gs>
              </a:gsLst>
              <a:lin ang="0"/>
            </a:gra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4" id="44"/>
            <p:cNvSpPr txBox="true"/>
            <p:nvPr/>
          </p:nvSpPr>
          <p:spPr>
            <a:xfrm>
              <a:off x="0" y="98425"/>
              <a:ext cx="1157139" cy="3046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3"/>
                </a:lnSpc>
              </a:pPr>
            </a:p>
          </p:txBody>
        </p:sp>
      </p:grpSp>
      <p:grpSp>
        <p:nvGrpSpPr>
          <p:cNvPr name="Group 45" id="45"/>
          <p:cNvGrpSpPr/>
          <p:nvPr/>
        </p:nvGrpSpPr>
        <p:grpSpPr>
          <a:xfrm rot="-10800000">
            <a:off x="4766134" y="7849477"/>
            <a:ext cx="1605045" cy="764807"/>
            <a:chOff x="0" y="0"/>
            <a:chExt cx="1346452" cy="641587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346452" cy="641587"/>
            </a:xfrm>
            <a:custGeom>
              <a:avLst/>
              <a:gdLst/>
              <a:ahLst/>
              <a:cxnLst/>
              <a:rect r="r" b="b" t="t" l="l"/>
              <a:pathLst>
                <a:path h="641587" w="1346452">
                  <a:moveTo>
                    <a:pt x="1346452" y="320794"/>
                  </a:moveTo>
                  <a:lnTo>
                    <a:pt x="940052" y="0"/>
                  </a:lnTo>
                  <a:lnTo>
                    <a:pt x="940052" y="203200"/>
                  </a:lnTo>
                  <a:lnTo>
                    <a:pt x="0" y="203200"/>
                  </a:lnTo>
                  <a:lnTo>
                    <a:pt x="0" y="438387"/>
                  </a:lnTo>
                  <a:lnTo>
                    <a:pt x="940052" y="438387"/>
                  </a:lnTo>
                  <a:lnTo>
                    <a:pt x="940052" y="641587"/>
                  </a:lnTo>
                  <a:lnTo>
                    <a:pt x="1346452" y="320794"/>
                  </a:lnTo>
                  <a:close/>
                </a:path>
              </a:pathLst>
            </a:custGeom>
            <a:gradFill rotWithShape="true">
              <a:gsLst>
                <a:gs pos="0">
                  <a:srgbClr val="FF3131">
                    <a:alpha val="100000"/>
                  </a:srgbClr>
                </a:gs>
                <a:gs pos="100000">
                  <a:srgbClr val="FF914D">
                    <a:alpha val="100000"/>
                  </a:srgbClr>
                </a:gs>
              </a:gsLst>
              <a:lin ang="0"/>
            </a:gra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7" id="47"/>
            <p:cNvSpPr txBox="true"/>
            <p:nvPr/>
          </p:nvSpPr>
          <p:spPr>
            <a:xfrm>
              <a:off x="0" y="98425"/>
              <a:ext cx="1244852" cy="3399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3"/>
                </a:lnSpc>
              </a:pP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385911" y="2152816"/>
            <a:ext cx="4319710" cy="2548391"/>
            <a:chOff x="0" y="0"/>
            <a:chExt cx="5759613" cy="3397855"/>
          </a:xfrm>
        </p:grpSpPr>
        <p:grpSp>
          <p:nvGrpSpPr>
            <p:cNvPr name="Group 49" id="49"/>
            <p:cNvGrpSpPr/>
            <p:nvPr/>
          </p:nvGrpSpPr>
          <p:grpSpPr>
            <a:xfrm rot="0">
              <a:off x="0" y="0"/>
              <a:ext cx="5759613" cy="3397855"/>
              <a:chOff x="0" y="0"/>
              <a:chExt cx="823695" cy="485935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823695" cy="485935"/>
              </a:xfrm>
              <a:custGeom>
                <a:avLst/>
                <a:gdLst/>
                <a:ahLst/>
                <a:cxnLst/>
                <a:rect r="r" b="b" t="t" l="l"/>
                <a:pathLst>
                  <a:path h="485935" w="823695">
                    <a:moveTo>
                      <a:pt x="126248" y="0"/>
                    </a:moveTo>
                    <a:lnTo>
                      <a:pt x="697447" y="0"/>
                    </a:lnTo>
                    <a:cubicBezTo>
                      <a:pt x="730930" y="0"/>
                      <a:pt x="763042" y="13301"/>
                      <a:pt x="786718" y="36977"/>
                    </a:cubicBezTo>
                    <a:cubicBezTo>
                      <a:pt x="810394" y="60653"/>
                      <a:pt x="823695" y="92765"/>
                      <a:pt x="823695" y="126248"/>
                    </a:cubicBezTo>
                    <a:lnTo>
                      <a:pt x="823695" y="359687"/>
                    </a:lnTo>
                    <a:cubicBezTo>
                      <a:pt x="823695" y="393170"/>
                      <a:pt x="810394" y="425282"/>
                      <a:pt x="786718" y="448958"/>
                    </a:cubicBezTo>
                    <a:cubicBezTo>
                      <a:pt x="763042" y="472634"/>
                      <a:pt x="730930" y="485935"/>
                      <a:pt x="697447" y="485935"/>
                    </a:cubicBezTo>
                    <a:lnTo>
                      <a:pt x="126248" y="485935"/>
                    </a:lnTo>
                    <a:cubicBezTo>
                      <a:pt x="92765" y="485935"/>
                      <a:pt x="60653" y="472634"/>
                      <a:pt x="36977" y="448958"/>
                    </a:cubicBezTo>
                    <a:cubicBezTo>
                      <a:pt x="13301" y="425282"/>
                      <a:pt x="0" y="393170"/>
                      <a:pt x="0" y="359687"/>
                    </a:cubicBezTo>
                    <a:lnTo>
                      <a:pt x="0" y="126248"/>
                    </a:lnTo>
                    <a:cubicBezTo>
                      <a:pt x="0" y="92765"/>
                      <a:pt x="13301" y="60653"/>
                      <a:pt x="36977" y="36977"/>
                    </a:cubicBezTo>
                    <a:cubicBezTo>
                      <a:pt x="60653" y="13301"/>
                      <a:pt x="92765" y="0"/>
                      <a:pt x="126248" y="0"/>
                    </a:cubicBezTo>
                    <a:close/>
                  </a:path>
                </a:pathLst>
              </a:custGeom>
              <a:solidFill>
                <a:srgbClr val="FFEB99"/>
              </a:solidFill>
              <a:ln w="38100" cap="rnd">
                <a:solidFill>
                  <a:srgbClr val="000000"/>
                </a:solidFill>
                <a:prstDash val="dash"/>
                <a:round/>
              </a:ln>
            </p:spPr>
          </p:sp>
          <p:sp>
            <p:nvSpPr>
              <p:cNvPr name="TextBox 51" id="51"/>
              <p:cNvSpPr txBox="true"/>
              <p:nvPr/>
            </p:nvSpPr>
            <p:spPr>
              <a:xfrm>
                <a:off x="0" y="-104775"/>
                <a:ext cx="823695" cy="59071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3"/>
                  </a:lnSpc>
                </a:pPr>
              </a:p>
            </p:txBody>
          </p:sp>
        </p:grpSp>
        <p:sp>
          <p:nvSpPr>
            <p:cNvPr name="TextBox 52" id="52"/>
            <p:cNvSpPr txBox="true"/>
            <p:nvPr/>
          </p:nvSpPr>
          <p:spPr>
            <a:xfrm rot="0">
              <a:off x="1535166" y="236374"/>
              <a:ext cx="3429264" cy="8726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776017" indent="-388008" lvl="1">
                <a:lnSpc>
                  <a:spcPts val="5032"/>
                </a:lnSpc>
                <a:spcBef>
                  <a:spcPct val="0"/>
                </a:spcBef>
                <a:buAutoNum type="arabicPeriod" startAt="1"/>
              </a:pPr>
              <a:r>
                <a:rPr lang="en-US" b="true" sz="3594" spc="46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DRAW</a:t>
              </a:r>
            </a:p>
          </p:txBody>
        </p:sp>
        <p:sp>
          <p:nvSpPr>
            <p:cNvPr name="TextBox 53" id="53"/>
            <p:cNvSpPr txBox="true"/>
            <p:nvPr/>
          </p:nvSpPr>
          <p:spPr>
            <a:xfrm rot="0">
              <a:off x="0" y="994736"/>
              <a:ext cx="5759613" cy="206830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065"/>
                </a:lnSpc>
              </a:pPr>
              <a:r>
                <a:rPr lang="en-US" b="true" sz="2903" spc="37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User can sketch the </a:t>
              </a:r>
            </a:p>
            <a:p>
              <a:pPr algn="ctr">
                <a:lnSpc>
                  <a:spcPts val="4065"/>
                </a:lnSpc>
              </a:pPr>
              <a:r>
                <a:rPr lang="en-US" b="true" sz="2903" spc="37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website by the provided</a:t>
              </a:r>
            </a:p>
            <a:p>
              <a:pPr algn="ctr">
                <a:lnSpc>
                  <a:spcPts val="4065"/>
                </a:lnSpc>
                <a:spcBef>
                  <a:spcPct val="0"/>
                </a:spcBef>
              </a:pPr>
              <a:r>
                <a:rPr lang="en-US" b="true" sz="2903" spc="37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tools of the Canva 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6468034" y="2152816"/>
            <a:ext cx="4347277" cy="2564654"/>
            <a:chOff x="0" y="0"/>
            <a:chExt cx="5796369" cy="3419539"/>
          </a:xfrm>
        </p:grpSpPr>
        <p:grpSp>
          <p:nvGrpSpPr>
            <p:cNvPr name="Group 55" id="55"/>
            <p:cNvGrpSpPr/>
            <p:nvPr/>
          </p:nvGrpSpPr>
          <p:grpSpPr>
            <a:xfrm rot="0">
              <a:off x="0" y="0"/>
              <a:ext cx="5796369" cy="3419539"/>
              <a:chOff x="0" y="0"/>
              <a:chExt cx="823695" cy="485935"/>
            </a:xfrm>
          </p:grpSpPr>
          <p:sp>
            <p:nvSpPr>
              <p:cNvPr name="Freeform 56" id="56"/>
              <p:cNvSpPr/>
              <p:nvPr/>
            </p:nvSpPr>
            <p:spPr>
              <a:xfrm flipH="false" flipV="false" rot="0">
                <a:off x="0" y="0"/>
                <a:ext cx="823695" cy="485935"/>
              </a:xfrm>
              <a:custGeom>
                <a:avLst/>
                <a:gdLst/>
                <a:ahLst/>
                <a:cxnLst/>
                <a:rect r="r" b="b" t="t" l="l"/>
                <a:pathLst>
                  <a:path h="485935" w="823695">
                    <a:moveTo>
                      <a:pt x="126248" y="0"/>
                    </a:moveTo>
                    <a:lnTo>
                      <a:pt x="697447" y="0"/>
                    </a:lnTo>
                    <a:cubicBezTo>
                      <a:pt x="730930" y="0"/>
                      <a:pt x="763042" y="13301"/>
                      <a:pt x="786718" y="36977"/>
                    </a:cubicBezTo>
                    <a:cubicBezTo>
                      <a:pt x="810394" y="60653"/>
                      <a:pt x="823695" y="92765"/>
                      <a:pt x="823695" y="126248"/>
                    </a:cubicBezTo>
                    <a:lnTo>
                      <a:pt x="823695" y="359687"/>
                    </a:lnTo>
                    <a:cubicBezTo>
                      <a:pt x="823695" y="393170"/>
                      <a:pt x="810394" y="425282"/>
                      <a:pt x="786718" y="448958"/>
                    </a:cubicBezTo>
                    <a:cubicBezTo>
                      <a:pt x="763042" y="472634"/>
                      <a:pt x="730930" y="485935"/>
                      <a:pt x="697447" y="485935"/>
                    </a:cubicBezTo>
                    <a:lnTo>
                      <a:pt x="126248" y="485935"/>
                    </a:lnTo>
                    <a:cubicBezTo>
                      <a:pt x="92765" y="485935"/>
                      <a:pt x="60653" y="472634"/>
                      <a:pt x="36977" y="448958"/>
                    </a:cubicBezTo>
                    <a:cubicBezTo>
                      <a:pt x="13301" y="425282"/>
                      <a:pt x="0" y="393170"/>
                      <a:pt x="0" y="359687"/>
                    </a:cubicBezTo>
                    <a:lnTo>
                      <a:pt x="0" y="126248"/>
                    </a:lnTo>
                    <a:cubicBezTo>
                      <a:pt x="0" y="92765"/>
                      <a:pt x="13301" y="60653"/>
                      <a:pt x="36977" y="36977"/>
                    </a:cubicBezTo>
                    <a:cubicBezTo>
                      <a:pt x="60653" y="13301"/>
                      <a:pt x="92765" y="0"/>
                      <a:pt x="126248" y="0"/>
                    </a:cubicBezTo>
                    <a:close/>
                  </a:path>
                </a:pathLst>
              </a:custGeom>
              <a:solidFill>
                <a:srgbClr val="FFD21F"/>
              </a:solidFill>
              <a:ln w="38100" cap="rnd">
                <a:solidFill>
                  <a:srgbClr val="000000"/>
                </a:solidFill>
                <a:prstDash val="dash"/>
                <a:round/>
              </a:ln>
            </p:spPr>
          </p:sp>
          <p:sp>
            <p:nvSpPr>
              <p:cNvPr name="TextBox 57" id="57"/>
              <p:cNvSpPr txBox="true"/>
              <p:nvPr/>
            </p:nvSpPr>
            <p:spPr>
              <a:xfrm>
                <a:off x="0" y="-104775"/>
                <a:ext cx="823695" cy="59071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3"/>
                  </a:lnSpc>
                </a:pPr>
              </a:p>
            </p:txBody>
          </p:sp>
        </p:grpSp>
        <p:sp>
          <p:nvSpPr>
            <p:cNvPr name="TextBox 58" id="58"/>
            <p:cNvSpPr txBox="true"/>
            <p:nvPr/>
          </p:nvSpPr>
          <p:spPr>
            <a:xfrm rot="0">
              <a:off x="1097709" y="192010"/>
              <a:ext cx="3600950" cy="8582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780969" indent="-390485" lvl="1">
                <a:lnSpc>
                  <a:spcPts val="5064"/>
                </a:lnSpc>
                <a:spcBef>
                  <a:spcPct val="0"/>
                </a:spcBef>
                <a:buAutoNum type="arabicPeriod" startAt="1"/>
              </a:pPr>
              <a:r>
                <a:rPr lang="en-US" b="true" sz="3617" spc="47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UPLOAD</a:t>
              </a:r>
            </a:p>
          </p:txBody>
        </p:sp>
        <p:sp>
          <p:nvSpPr>
            <p:cNvPr name="TextBox 59" id="59"/>
            <p:cNvSpPr txBox="true"/>
            <p:nvPr/>
          </p:nvSpPr>
          <p:spPr>
            <a:xfrm rot="0">
              <a:off x="263582" y="1134051"/>
              <a:ext cx="5532787" cy="20807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091"/>
                </a:lnSpc>
              </a:pPr>
              <a:r>
                <a:rPr lang="en-US" b="true" sz="2922" spc="37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Click “generate website”, </a:t>
              </a:r>
            </a:p>
            <a:p>
              <a:pPr algn="ctr">
                <a:lnSpc>
                  <a:spcPts val="4091"/>
                </a:lnSpc>
              </a:pPr>
              <a:r>
                <a:rPr lang="en-US" b="true" sz="2922" spc="37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upload the canva</a:t>
              </a:r>
            </a:p>
            <a:p>
              <a:pPr algn="ctr">
                <a:lnSpc>
                  <a:spcPts val="4091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3211166" y="7016330"/>
            <a:ext cx="4310101" cy="2543124"/>
            <a:chOff x="0" y="0"/>
            <a:chExt cx="5746802" cy="3390832"/>
          </a:xfrm>
        </p:grpSpPr>
        <p:grpSp>
          <p:nvGrpSpPr>
            <p:cNvPr name="Group 61" id="61"/>
            <p:cNvGrpSpPr/>
            <p:nvPr/>
          </p:nvGrpSpPr>
          <p:grpSpPr>
            <a:xfrm rot="0">
              <a:off x="0" y="0"/>
              <a:ext cx="5746802" cy="3390832"/>
              <a:chOff x="0" y="0"/>
              <a:chExt cx="823565" cy="485935"/>
            </a:xfrm>
          </p:grpSpPr>
          <p:sp>
            <p:nvSpPr>
              <p:cNvPr name="Freeform 62" id="62"/>
              <p:cNvSpPr/>
              <p:nvPr/>
            </p:nvSpPr>
            <p:spPr>
              <a:xfrm flipH="false" flipV="false" rot="0">
                <a:off x="0" y="0"/>
                <a:ext cx="823566" cy="485935"/>
              </a:xfrm>
              <a:custGeom>
                <a:avLst/>
                <a:gdLst/>
                <a:ahLst/>
                <a:cxnLst/>
                <a:rect r="r" b="b" t="t" l="l"/>
                <a:pathLst>
                  <a:path h="485935" w="823566">
                    <a:moveTo>
                      <a:pt x="126268" y="0"/>
                    </a:moveTo>
                    <a:lnTo>
                      <a:pt x="697297" y="0"/>
                    </a:lnTo>
                    <a:cubicBezTo>
                      <a:pt x="767033" y="0"/>
                      <a:pt x="823566" y="56532"/>
                      <a:pt x="823566" y="126268"/>
                    </a:cubicBezTo>
                    <a:lnTo>
                      <a:pt x="823566" y="359667"/>
                    </a:lnTo>
                    <a:cubicBezTo>
                      <a:pt x="823566" y="393155"/>
                      <a:pt x="810262" y="425272"/>
                      <a:pt x="786582" y="448952"/>
                    </a:cubicBezTo>
                    <a:cubicBezTo>
                      <a:pt x="762902" y="472632"/>
                      <a:pt x="730786" y="485935"/>
                      <a:pt x="697297" y="485935"/>
                    </a:cubicBezTo>
                    <a:lnTo>
                      <a:pt x="126268" y="485935"/>
                    </a:lnTo>
                    <a:cubicBezTo>
                      <a:pt x="56532" y="485935"/>
                      <a:pt x="0" y="429403"/>
                      <a:pt x="0" y="359667"/>
                    </a:cubicBezTo>
                    <a:lnTo>
                      <a:pt x="0" y="126268"/>
                    </a:lnTo>
                    <a:cubicBezTo>
                      <a:pt x="0" y="56532"/>
                      <a:pt x="56532" y="0"/>
                      <a:pt x="126268" y="0"/>
                    </a:cubicBezTo>
                    <a:close/>
                  </a:path>
                </a:pathLst>
              </a:custGeom>
              <a:solidFill>
                <a:srgbClr val="FFA51F"/>
              </a:solidFill>
              <a:ln w="38100" cap="rnd">
                <a:solidFill>
                  <a:srgbClr val="000000"/>
                </a:solidFill>
                <a:prstDash val="dash"/>
                <a:round/>
              </a:ln>
            </p:spPr>
          </p:sp>
          <p:sp>
            <p:nvSpPr>
              <p:cNvPr name="TextBox 63" id="63"/>
              <p:cNvSpPr txBox="true"/>
              <p:nvPr/>
            </p:nvSpPr>
            <p:spPr>
              <a:xfrm>
                <a:off x="0" y="-104775"/>
                <a:ext cx="823565" cy="59071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3"/>
                  </a:lnSpc>
                </a:pPr>
              </a:p>
            </p:txBody>
          </p:sp>
        </p:grpSp>
        <p:sp>
          <p:nvSpPr>
            <p:cNvPr name="TextBox 64" id="64"/>
            <p:cNvSpPr txBox="true"/>
            <p:nvPr/>
          </p:nvSpPr>
          <p:spPr>
            <a:xfrm rot="0">
              <a:off x="1022134" y="269178"/>
              <a:ext cx="3702534" cy="871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774413" indent="-387206" lvl="1">
                <a:lnSpc>
                  <a:spcPts val="5021"/>
                </a:lnSpc>
                <a:spcBef>
                  <a:spcPct val="0"/>
                </a:spcBef>
                <a:buAutoNum type="arabicPeriod" startAt="1"/>
              </a:pPr>
              <a:r>
                <a:rPr lang="en-US" b="true" sz="3586" spc="46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CONVERT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2999140" y="2146982"/>
            <a:ext cx="4676349" cy="2532702"/>
            <a:chOff x="0" y="0"/>
            <a:chExt cx="6235132" cy="3376936"/>
          </a:xfrm>
        </p:grpSpPr>
        <p:grpSp>
          <p:nvGrpSpPr>
            <p:cNvPr name="Group 66" id="66"/>
            <p:cNvGrpSpPr/>
            <p:nvPr/>
          </p:nvGrpSpPr>
          <p:grpSpPr>
            <a:xfrm rot="0">
              <a:off x="0" y="0"/>
              <a:ext cx="6235132" cy="3376936"/>
              <a:chOff x="0" y="0"/>
              <a:chExt cx="822307" cy="445360"/>
            </a:xfrm>
          </p:grpSpPr>
          <p:sp>
            <p:nvSpPr>
              <p:cNvPr name="Freeform 67" id="67"/>
              <p:cNvSpPr/>
              <p:nvPr/>
            </p:nvSpPr>
            <p:spPr>
              <a:xfrm flipH="false" flipV="false" rot="0">
                <a:off x="0" y="0"/>
                <a:ext cx="822307" cy="445360"/>
              </a:xfrm>
              <a:custGeom>
                <a:avLst/>
                <a:gdLst/>
                <a:ahLst/>
                <a:cxnLst/>
                <a:rect r="r" b="b" t="t" l="l"/>
                <a:pathLst>
                  <a:path h="445360" w="822307">
                    <a:moveTo>
                      <a:pt x="126462" y="0"/>
                    </a:moveTo>
                    <a:lnTo>
                      <a:pt x="695846" y="0"/>
                    </a:lnTo>
                    <a:cubicBezTo>
                      <a:pt x="729385" y="0"/>
                      <a:pt x="761551" y="13324"/>
                      <a:pt x="785267" y="37040"/>
                    </a:cubicBezTo>
                    <a:cubicBezTo>
                      <a:pt x="808984" y="60756"/>
                      <a:pt x="822307" y="92922"/>
                      <a:pt x="822307" y="126462"/>
                    </a:cubicBezTo>
                    <a:lnTo>
                      <a:pt x="822307" y="318898"/>
                    </a:lnTo>
                    <a:cubicBezTo>
                      <a:pt x="822307" y="352438"/>
                      <a:pt x="808984" y="384604"/>
                      <a:pt x="785267" y="408320"/>
                    </a:cubicBezTo>
                    <a:cubicBezTo>
                      <a:pt x="761551" y="432036"/>
                      <a:pt x="729385" y="445360"/>
                      <a:pt x="695846" y="445360"/>
                    </a:cubicBezTo>
                    <a:lnTo>
                      <a:pt x="126462" y="445360"/>
                    </a:lnTo>
                    <a:cubicBezTo>
                      <a:pt x="92922" y="445360"/>
                      <a:pt x="60756" y="432036"/>
                      <a:pt x="37040" y="408320"/>
                    </a:cubicBezTo>
                    <a:cubicBezTo>
                      <a:pt x="13324" y="384604"/>
                      <a:pt x="0" y="352438"/>
                      <a:pt x="0" y="318898"/>
                    </a:cubicBezTo>
                    <a:lnTo>
                      <a:pt x="0" y="126462"/>
                    </a:lnTo>
                    <a:cubicBezTo>
                      <a:pt x="0" y="92922"/>
                      <a:pt x="13324" y="60756"/>
                      <a:pt x="37040" y="37040"/>
                    </a:cubicBezTo>
                    <a:cubicBezTo>
                      <a:pt x="60756" y="13324"/>
                      <a:pt x="92922" y="0"/>
                      <a:pt x="126462" y="0"/>
                    </a:cubicBezTo>
                    <a:close/>
                  </a:path>
                </a:pathLst>
              </a:custGeom>
              <a:solidFill>
                <a:srgbClr val="FFD699"/>
              </a:solidFill>
              <a:ln w="38100" cap="rnd">
                <a:solidFill>
                  <a:srgbClr val="000000"/>
                </a:solidFill>
                <a:prstDash val="dash"/>
                <a:round/>
              </a:ln>
            </p:spPr>
          </p:sp>
          <p:sp>
            <p:nvSpPr>
              <p:cNvPr name="TextBox 68" id="68"/>
              <p:cNvSpPr txBox="true"/>
              <p:nvPr/>
            </p:nvSpPr>
            <p:spPr>
              <a:xfrm>
                <a:off x="0" y="-104775"/>
                <a:ext cx="822307" cy="55013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3"/>
                  </a:lnSpc>
                </a:pPr>
              </a:p>
            </p:txBody>
          </p:sp>
        </p:grpSp>
        <p:sp>
          <p:nvSpPr>
            <p:cNvPr name="TextBox 69" id="69"/>
            <p:cNvSpPr txBox="true"/>
            <p:nvPr/>
          </p:nvSpPr>
          <p:spPr>
            <a:xfrm rot="0">
              <a:off x="1049580" y="335999"/>
              <a:ext cx="4135971" cy="8770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790975" indent="-395487" lvl="1">
                <a:lnSpc>
                  <a:spcPts val="5129"/>
                </a:lnSpc>
                <a:spcBef>
                  <a:spcPct val="0"/>
                </a:spcBef>
                <a:buAutoNum type="arabicPeriod" startAt="1"/>
              </a:pPr>
              <a:r>
                <a:rPr lang="en-US" b="true" sz="3663" spc="47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RECOGNIZE</a:t>
              </a:r>
            </a:p>
          </p:txBody>
        </p:sp>
        <p:sp>
          <p:nvSpPr>
            <p:cNvPr name="TextBox 70" id="70"/>
            <p:cNvSpPr txBox="true"/>
            <p:nvPr/>
          </p:nvSpPr>
          <p:spPr>
            <a:xfrm rot="0">
              <a:off x="332701" y="1962063"/>
              <a:ext cx="5590913" cy="59454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465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6504529" y="7016330"/>
            <a:ext cx="4310782" cy="2543124"/>
            <a:chOff x="0" y="0"/>
            <a:chExt cx="5747709" cy="3390832"/>
          </a:xfrm>
        </p:grpSpPr>
        <p:grpSp>
          <p:nvGrpSpPr>
            <p:cNvPr name="Group 72" id="72"/>
            <p:cNvGrpSpPr/>
            <p:nvPr/>
          </p:nvGrpSpPr>
          <p:grpSpPr>
            <a:xfrm rot="0">
              <a:off x="0" y="0"/>
              <a:ext cx="5747709" cy="3390832"/>
              <a:chOff x="0" y="0"/>
              <a:chExt cx="989536" cy="583772"/>
            </a:xfrm>
          </p:grpSpPr>
          <p:sp>
            <p:nvSpPr>
              <p:cNvPr name="Freeform 73" id="73"/>
              <p:cNvSpPr/>
              <p:nvPr/>
            </p:nvSpPr>
            <p:spPr>
              <a:xfrm flipH="false" flipV="false" rot="0">
                <a:off x="0" y="0"/>
                <a:ext cx="989536" cy="583772"/>
              </a:xfrm>
              <a:custGeom>
                <a:avLst/>
                <a:gdLst/>
                <a:ahLst/>
                <a:cxnLst/>
                <a:rect r="r" b="b" t="t" l="l"/>
                <a:pathLst>
                  <a:path h="583772" w="989536">
                    <a:moveTo>
                      <a:pt x="105090" y="0"/>
                    </a:moveTo>
                    <a:lnTo>
                      <a:pt x="884447" y="0"/>
                    </a:lnTo>
                    <a:cubicBezTo>
                      <a:pt x="912318" y="0"/>
                      <a:pt x="939048" y="11072"/>
                      <a:pt x="958756" y="30780"/>
                    </a:cubicBezTo>
                    <a:cubicBezTo>
                      <a:pt x="978465" y="50488"/>
                      <a:pt x="989536" y="77218"/>
                      <a:pt x="989536" y="105090"/>
                    </a:cubicBezTo>
                    <a:lnTo>
                      <a:pt x="989536" y="478682"/>
                    </a:lnTo>
                    <a:cubicBezTo>
                      <a:pt x="989536" y="536722"/>
                      <a:pt x="942486" y="583772"/>
                      <a:pt x="884447" y="583772"/>
                    </a:cubicBezTo>
                    <a:lnTo>
                      <a:pt x="105090" y="583772"/>
                    </a:lnTo>
                    <a:cubicBezTo>
                      <a:pt x="47050" y="583772"/>
                      <a:pt x="0" y="536722"/>
                      <a:pt x="0" y="478682"/>
                    </a:cubicBezTo>
                    <a:lnTo>
                      <a:pt x="0" y="105090"/>
                    </a:lnTo>
                    <a:cubicBezTo>
                      <a:pt x="0" y="47050"/>
                      <a:pt x="47050" y="0"/>
                      <a:pt x="105090" y="0"/>
                    </a:cubicBezTo>
                    <a:close/>
                  </a:path>
                </a:pathLst>
              </a:custGeom>
              <a:solidFill>
                <a:srgbClr val="FFC099"/>
              </a:solidFill>
              <a:ln w="38100" cap="rnd">
                <a:solidFill>
                  <a:srgbClr val="000000"/>
                </a:solidFill>
                <a:prstDash val="dash"/>
                <a:round/>
              </a:ln>
            </p:spPr>
          </p:sp>
          <p:sp>
            <p:nvSpPr>
              <p:cNvPr name="TextBox 74" id="74"/>
              <p:cNvSpPr txBox="true"/>
              <p:nvPr/>
            </p:nvSpPr>
            <p:spPr>
              <a:xfrm>
                <a:off x="0" y="-104775"/>
                <a:ext cx="989536" cy="6885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3"/>
                  </a:lnSpc>
                </a:pPr>
              </a:p>
            </p:txBody>
          </p:sp>
        </p:grpSp>
        <p:sp>
          <p:nvSpPr>
            <p:cNvPr name="TextBox 75" id="75"/>
            <p:cNvSpPr txBox="true"/>
            <p:nvPr/>
          </p:nvSpPr>
          <p:spPr>
            <a:xfrm rot="0">
              <a:off x="1107267" y="353334"/>
              <a:ext cx="3533174" cy="7126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644626" indent="-322313" lvl="1">
                <a:lnSpc>
                  <a:spcPts val="4180"/>
                </a:lnSpc>
                <a:spcBef>
                  <a:spcPct val="0"/>
                </a:spcBef>
                <a:buAutoNum type="arabicPeriod" startAt="1"/>
              </a:pPr>
              <a:r>
                <a:rPr lang="en-US" b="true" sz="2985" spc="38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GENERATE</a:t>
              </a:r>
            </a:p>
          </p:txBody>
        </p:sp>
        <p:sp>
          <p:nvSpPr>
            <p:cNvPr name="TextBox 76" id="76"/>
            <p:cNvSpPr txBox="true"/>
            <p:nvPr/>
          </p:nvSpPr>
          <p:spPr>
            <a:xfrm rot="0">
              <a:off x="413924" y="1396090"/>
              <a:ext cx="4919862" cy="114060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376"/>
                </a:lnSpc>
                <a:spcBef>
                  <a:spcPct val="0"/>
                </a:spcBef>
              </a:pPr>
              <a:r>
                <a:rPr lang="en-US" b="true" sz="2412" spc="3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Generate the code for the website</a:t>
              </a:r>
            </a:p>
          </p:txBody>
        </p:sp>
      </p:grpSp>
      <p:grpSp>
        <p:nvGrpSpPr>
          <p:cNvPr name="Group 77" id="77"/>
          <p:cNvGrpSpPr/>
          <p:nvPr/>
        </p:nvGrpSpPr>
        <p:grpSpPr>
          <a:xfrm rot="0">
            <a:off x="385911" y="6998731"/>
            <a:ext cx="4244099" cy="2523001"/>
            <a:chOff x="0" y="0"/>
            <a:chExt cx="5658798" cy="3364001"/>
          </a:xfrm>
        </p:grpSpPr>
        <p:grpSp>
          <p:nvGrpSpPr>
            <p:cNvPr name="Group 78" id="78"/>
            <p:cNvGrpSpPr/>
            <p:nvPr/>
          </p:nvGrpSpPr>
          <p:grpSpPr>
            <a:xfrm rot="0">
              <a:off x="0" y="0"/>
              <a:ext cx="5658798" cy="3364001"/>
              <a:chOff x="0" y="0"/>
              <a:chExt cx="982000" cy="583772"/>
            </a:xfrm>
          </p:grpSpPr>
          <p:sp>
            <p:nvSpPr>
              <p:cNvPr name="Freeform 79" id="79"/>
              <p:cNvSpPr/>
              <p:nvPr/>
            </p:nvSpPr>
            <p:spPr>
              <a:xfrm flipH="false" flipV="false" rot="0">
                <a:off x="0" y="0"/>
                <a:ext cx="982000" cy="583772"/>
              </a:xfrm>
              <a:custGeom>
                <a:avLst/>
                <a:gdLst/>
                <a:ahLst/>
                <a:cxnLst/>
                <a:rect r="r" b="b" t="t" l="l"/>
                <a:pathLst>
                  <a:path h="583772" w="982000">
                    <a:moveTo>
                      <a:pt x="105896" y="0"/>
                    </a:moveTo>
                    <a:lnTo>
                      <a:pt x="876103" y="0"/>
                    </a:lnTo>
                    <a:cubicBezTo>
                      <a:pt x="934588" y="0"/>
                      <a:pt x="982000" y="47411"/>
                      <a:pt x="982000" y="105896"/>
                    </a:cubicBezTo>
                    <a:lnTo>
                      <a:pt x="982000" y="477876"/>
                    </a:lnTo>
                    <a:cubicBezTo>
                      <a:pt x="982000" y="505961"/>
                      <a:pt x="970843" y="532896"/>
                      <a:pt x="950983" y="552756"/>
                    </a:cubicBezTo>
                    <a:cubicBezTo>
                      <a:pt x="931124" y="572615"/>
                      <a:pt x="904189" y="583772"/>
                      <a:pt x="876103" y="583772"/>
                    </a:cubicBezTo>
                    <a:lnTo>
                      <a:pt x="105896" y="583772"/>
                    </a:lnTo>
                    <a:cubicBezTo>
                      <a:pt x="47411" y="583772"/>
                      <a:pt x="0" y="536361"/>
                      <a:pt x="0" y="477876"/>
                    </a:cubicBezTo>
                    <a:lnTo>
                      <a:pt x="0" y="105896"/>
                    </a:lnTo>
                    <a:cubicBezTo>
                      <a:pt x="0" y="47411"/>
                      <a:pt x="47411" y="0"/>
                      <a:pt x="105896" y="0"/>
                    </a:cubicBezTo>
                    <a:close/>
                  </a:path>
                </a:pathLst>
              </a:custGeom>
              <a:solidFill>
                <a:srgbClr val="FF914D"/>
              </a:solidFill>
              <a:ln w="38100" cap="rnd">
                <a:solidFill>
                  <a:srgbClr val="000000"/>
                </a:solidFill>
                <a:prstDash val="dash"/>
                <a:round/>
              </a:ln>
            </p:spPr>
          </p:sp>
          <p:sp>
            <p:nvSpPr>
              <p:cNvPr name="TextBox 80" id="80"/>
              <p:cNvSpPr txBox="true"/>
              <p:nvPr/>
            </p:nvSpPr>
            <p:spPr>
              <a:xfrm>
                <a:off x="0" y="-104775"/>
                <a:ext cx="982000" cy="68854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3"/>
                  </a:lnSpc>
                </a:pPr>
              </a:p>
            </p:txBody>
          </p:sp>
        </p:grpSp>
        <p:sp>
          <p:nvSpPr>
            <p:cNvPr name="TextBox 81" id="81"/>
            <p:cNvSpPr txBox="true"/>
            <p:nvPr/>
          </p:nvSpPr>
          <p:spPr>
            <a:xfrm rot="0">
              <a:off x="1283134" y="329794"/>
              <a:ext cx="3092531" cy="7078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639525" indent="-319762" lvl="1">
                <a:lnSpc>
                  <a:spcPts val="4146"/>
                </a:lnSpc>
                <a:spcBef>
                  <a:spcPct val="0"/>
                </a:spcBef>
                <a:buAutoNum type="arabicPeriod" startAt="1"/>
              </a:pPr>
              <a:r>
                <a:rPr lang="en-US" b="true" sz="2962" spc="38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OUTPUT</a:t>
              </a:r>
            </a:p>
          </p:txBody>
        </p:sp>
        <p:sp>
          <p:nvSpPr>
            <p:cNvPr name="TextBox 82" id="82"/>
            <p:cNvSpPr txBox="true"/>
            <p:nvPr/>
          </p:nvSpPr>
          <p:spPr>
            <a:xfrm rot="0">
              <a:off x="438085" y="1360209"/>
              <a:ext cx="4782629" cy="115130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350"/>
                </a:lnSpc>
                <a:spcBef>
                  <a:spcPct val="0"/>
                </a:spcBef>
              </a:pPr>
              <a:r>
                <a:rPr lang="en-US" b="true" sz="2393" spc="3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Update the generated website</a:t>
              </a:r>
            </a:p>
          </p:txBody>
        </p:sp>
      </p:grpSp>
      <p:sp>
        <p:nvSpPr>
          <p:cNvPr name="TextBox 83" id="83"/>
          <p:cNvSpPr txBox="true"/>
          <p:nvPr/>
        </p:nvSpPr>
        <p:spPr>
          <a:xfrm rot="0">
            <a:off x="13645959" y="3289807"/>
            <a:ext cx="3440515" cy="8804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2"/>
              </a:lnSpc>
              <a:spcBef>
                <a:spcPct val="0"/>
              </a:spcBef>
            </a:pPr>
            <a:r>
              <a:rPr lang="en-US" b="true" sz="2422" spc="3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Identify the objects and their position 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13617057" y="7763752"/>
            <a:ext cx="3440515" cy="13085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92"/>
              </a:lnSpc>
              <a:spcBef>
                <a:spcPct val="0"/>
              </a:spcBef>
            </a:pPr>
            <a:r>
              <a:rPr lang="en-US" b="true" sz="2422" spc="31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Convert into json structure for further generation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275792" y="155283"/>
            <a:ext cx="11563730" cy="1043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073"/>
              </a:lnSpc>
              <a:spcBef>
                <a:spcPct val="0"/>
              </a:spcBef>
            </a:pPr>
            <a:r>
              <a:rPr lang="en-US" b="true" sz="643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Functionality – Generative Mode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flipV="true">
            <a:off x="1604766" y="5143500"/>
            <a:ext cx="14724744" cy="1905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arrow" len="sm" w="med"/>
            <a:tailEnd type="arrow" len="sm" w="med"/>
          </a:ln>
        </p:spPr>
      </p:sp>
      <p:sp>
        <p:nvSpPr>
          <p:cNvPr name="AutoShape 3" id="3"/>
          <p:cNvSpPr/>
          <p:nvPr/>
        </p:nvSpPr>
        <p:spPr>
          <a:xfrm flipH="true">
            <a:off x="8735872" y="1793339"/>
            <a:ext cx="0" cy="7150313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arrow" len="sm" w="med"/>
            <a:tailEnd type="arrow" len="sm" w="med"/>
          </a:ln>
        </p:spPr>
      </p:sp>
      <p:grpSp>
        <p:nvGrpSpPr>
          <p:cNvPr name="Group 4" id="4"/>
          <p:cNvGrpSpPr/>
          <p:nvPr/>
        </p:nvGrpSpPr>
        <p:grpSpPr>
          <a:xfrm rot="0">
            <a:off x="74987" y="7848600"/>
            <a:ext cx="6111769" cy="2044882"/>
            <a:chOff x="0" y="0"/>
            <a:chExt cx="8149026" cy="272650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734413" y="0"/>
              <a:ext cx="6680200" cy="1879600"/>
            </a:xfrm>
            <a:custGeom>
              <a:avLst/>
              <a:gdLst/>
              <a:ahLst/>
              <a:cxnLst/>
              <a:rect r="r" b="b" t="t" l="l"/>
              <a:pathLst>
                <a:path h="1879600" w="6680200">
                  <a:moveTo>
                    <a:pt x="0" y="0"/>
                  </a:moveTo>
                  <a:lnTo>
                    <a:pt x="6680200" y="0"/>
                  </a:lnTo>
                  <a:lnTo>
                    <a:pt x="6680200" y="1879600"/>
                  </a:lnTo>
                  <a:lnTo>
                    <a:pt x="0" y="187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  <p:grpSp>
          <p:nvGrpSpPr>
            <p:cNvPr name="Group 6" id="6"/>
            <p:cNvGrpSpPr/>
            <p:nvPr/>
          </p:nvGrpSpPr>
          <p:grpSpPr>
            <a:xfrm rot="0">
              <a:off x="0" y="1966968"/>
              <a:ext cx="8075852" cy="759541"/>
              <a:chOff x="0" y="0"/>
              <a:chExt cx="1595230" cy="150033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1595230" cy="150033"/>
              </a:xfrm>
              <a:custGeom>
                <a:avLst/>
                <a:gdLst/>
                <a:ahLst/>
                <a:cxnLst/>
                <a:rect r="r" b="b" t="t" l="l"/>
                <a:pathLst>
                  <a:path h="150033" w="1595230">
                    <a:moveTo>
                      <a:pt x="65188" y="0"/>
                    </a:moveTo>
                    <a:lnTo>
                      <a:pt x="1530042" y="0"/>
                    </a:lnTo>
                    <a:cubicBezTo>
                      <a:pt x="1547331" y="0"/>
                      <a:pt x="1563912" y="6868"/>
                      <a:pt x="1576137" y="19093"/>
                    </a:cubicBezTo>
                    <a:cubicBezTo>
                      <a:pt x="1588362" y="31318"/>
                      <a:pt x="1595230" y="47899"/>
                      <a:pt x="1595230" y="65188"/>
                    </a:cubicBezTo>
                    <a:lnTo>
                      <a:pt x="1595230" y="84845"/>
                    </a:lnTo>
                    <a:cubicBezTo>
                      <a:pt x="1595230" y="102134"/>
                      <a:pt x="1588362" y="118715"/>
                      <a:pt x="1576137" y="130940"/>
                    </a:cubicBezTo>
                    <a:cubicBezTo>
                      <a:pt x="1563912" y="143165"/>
                      <a:pt x="1547331" y="150033"/>
                      <a:pt x="1530042" y="150033"/>
                    </a:cubicBezTo>
                    <a:lnTo>
                      <a:pt x="65188" y="150033"/>
                    </a:lnTo>
                    <a:cubicBezTo>
                      <a:pt x="47899" y="150033"/>
                      <a:pt x="31318" y="143165"/>
                      <a:pt x="19093" y="130940"/>
                    </a:cubicBezTo>
                    <a:cubicBezTo>
                      <a:pt x="6868" y="118715"/>
                      <a:pt x="0" y="102134"/>
                      <a:pt x="0" y="84845"/>
                    </a:cubicBezTo>
                    <a:lnTo>
                      <a:pt x="0" y="65188"/>
                    </a:lnTo>
                    <a:cubicBezTo>
                      <a:pt x="0" y="47899"/>
                      <a:pt x="6868" y="31318"/>
                      <a:pt x="19093" y="19093"/>
                    </a:cubicBezTo>
                    <a:cubicBezTo>
                      <a:pt x="31318" y="6868"/>
                      <a:pt x="47899" y="0"/>
                      <a:pt x="65188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FEFFFF">
                      <a:alpha val="100000"/>
                    </a:srgbClr>
                  </a:gs>
                  <a:gs pos="100000">
                    <a:srgbClr val="C5C5C5">
                      <a:alpha val="100000"/>
                    </a:srgbClr>
                  </a:gs>
                </a:gsLst>
                <a:lin ang="5400000"/>
              </a:gradFill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28575"/>
                <a:ext cx="1595230" cy="17860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95"/>
                  </a:lnSpc>
                </a:pPr>
              </a:p>
            </p:txBody>
          </p:sp>
        </p:grpSp>
        <p:sp>
          <p:nvSpPr>
            <p:cNvPr name="TextBox 9" id="9"/>
            <p:cNvSpPr txBox="true"/>
            <p:nvPr/>
          </p:nvSpPr>
          <p:spPr>
            <a:xfrm rot="0">
              <a:off x="0" y="2102372"/>
              <a:ext cx="8149026" cy="4506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95"/>
                </a:lnSpc>
                <a:spcBef>
                  <a:spcPct val="0"/>
                </a:spcBef>
              </a:pPr>
              <a:r>
                <a:rPr lang="en-US" b="true" sz="2068" spc="26">
                  <a:solidFill>
                    <a:srgbClr val="000000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Varied output · Doesn’t show confidence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3130872" y="5964645"/>
            <a:ext cx="5605000" cy="1970016"/>
            <a:chOff x="0" y="0"/>
            <a:chExt cx="7473333" cy="262668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550746" y="0"/>
              <a:ext cx="6434335" cy="1867147"/>
            </a:xfrm>
            <a:custGeom>
              <a:avLst/>
              <a:gdLst/>
              <a:ahLst/>
              <a:cxnLst/>
              <a:rect r="r" b="b" t="t" l="l"/>
              <a:pathLst>
                <a:path h="1867147" w="6434335">
                  <a:moveTo>
                    <a:pt x="0" y="0"/>
                  </a:moveTo>
                  <a:lnTo>
                    <a:pt x="6434335" y="0"/>
                  </a:lnTo>
                  <a:lnTo>
                    <a:pt x="6434335" y="1867147"/>
                  </a:lnTo>
                  <a:lnTo>
                    <a:pt x="0" y="18671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  <p:grpSp>
          <p:nvGrpSpPr>
            <p:cNvPr name="Group 12" id="12"/>
            <p:cNvGrpSpPr/>
            <p:nvPr/>
          </p:nvGrpSpPr>
          <p:grpSpPr>
            <a:xfrm rot="0">
              <a:off x="0" y="1867147"/>
              <a:ext cx="7406227" cy="759541"/>
              <a:chOff x="0" y="0"/>
              <a:chExt cx="1462959" cy="150033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1462958" cy="150033"/>
              </a:xfrm>
              <a:custGeom>
                <a:avLst/>
                <a:gdLst/>
                <a:ahLst/>
                <a:cxnLst/>
                <a:rect r="r" b="b" t="t" l="l"/>
                <a:pathLst>
                  <a:path h="150033" w="1462958">
                    <a:moveTo>
                      <a:pt x="71082" y="0"/>
                    </a:moveTo>
                    <a:lnTo>
                      <a:pt x="1391876" y="0"/>
                    </a:lnTo>
                    <a:cubicBezTo>
                      <a:pt x="1410729" y="0"/>
                      <a:pt x="1428809" y="7489"/>
                      <a:pt x="1442139" y="20819"/>
                    </a:cubicBezTo>
                    <a:cubicBezTo>
                      <a:pt x="1455469" y="34150"/>
                      <a:pt x="1462958" y="52230"/>
                      <a:pt x="1462958" y="71082"/>
                    </a:cubicBezTo>
                    <a:lnTo>
                      <a:pt x="1462958" y="78951"/>
                    </a:lnTo>
                    <a:cubicBezTo>
                      <a:pt x="1462958" y="118208"/>
                      <a:pt x="1431134" y="150033"/>
                      <a:pt x="1391876" y="150033"/>
                    </a:cubicBezTo>
                    <a:lnTo>
                      <a:pt x="71082" y="150033"/>
                    </a:lnTo>
                    <a:cubicBezTo>
                      <a:pt x="52230" y="150033"/>
                      <a:pt x="34150" y="142544"/>
                      <a:pt x="20819" y="129213"/>
                    </a:cubicBezTo>
                    <a:cubicBezTo>
                      <a:pt x="7489" y="115883"/>
                      <a:pt x="0" y="97803"/>
                      <a:pt x="0" y="78951"/>
                    </a:cubicBezTo>
                    <a:lnTo>
                      <a:pt x="0" y="71082"/>
                    </a:lnTo>
                    <a:cubicBezTo>
                      <a:pt x="0" y="52230"/>
                      <a:pt x="7489" y="34150"/>
                      <a:pt x="20819" y="20819"/>
                    </a:cubicBezTo>
                    <a:cubicBezTo>
                      <a:pt x="34150" y="7489"/>
                      <a:pt x="52230" y="0"/>
                      <a:pt x="71082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FEFFFF">
                      <a:alpha val="100000"/>
                    </a:srgbClr>
                  </a:gs>
                  <a:gs pos="100000">
                    <a:srgbClr val="C5C5C5">
                      <a:alpha val="100000"/>
                    </a:srgbClr>
                  </a:gs>
                </a:gsLst>
                <a:lin ang="5400000"/>
              </a:gra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28575"/>
                <a:ext cx="1462959" cy="17860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95"/>
                  </a:lnSpc>
                </a:pPr>
              </a:p>
            </p:txBody>
          </p:sp>
        </p:grpSp>
        <p:sp>
          <p:nvSpPr>
            <p:cNvPr name="TextBox 15" id="15"/>
            <p:cNvSpPr txBox="true"/>
            <p:nvPr/>
          </p:nvSpPr>
          <p:spPr>
            <a:xfrm rot="0">
              <a:off x="0" y="2002551"/>
              <a:ext cx="7473333" cy="4506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95"/>
                </a:lnSpc>
                <a:spcBef>
                  <a:spcPct val="0"/>
                </a:spcBef>
              </a:pPr>
              <a:r>
                <a:rPr lang="en-US" b="true" sz="2068" spc="26">
                  <a:solidFill>
                    <a:srgbClr val="000000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Cloud-dependent · Paid account · Opaque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0338765" y="1498924"/>
            <a:ext cx="7949235" cy="2307451"/>
            <a:chOff x="0" y="0"/>
            <a:chExt cx="10598980" cy="307660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1747566" y="0"/>
              <a:ext cx="6705904" cy="2164660"/>
            </a:xfrm>
            <a:custGeom>
              <a:avLst/>
              <a:gdLst/>
              <a:ahLst/>
              <a:cxnLst/>
              <a:rect r="r" b="b" t="t" l="l"/>
              <a:pathLst>
                <a:path h="2164660" w="6705904">
                  <a:moveTo>
                    <a:pt x="0" y="0"/>
                  </a:moveTo>
                  <a:lnTo>
                    <a:pt x="6705905" y="0"/>
                  </a:lnTo>
                  <a:lnTo>
                    <a:pt x="6705905" y="2164660"/>
                  </a:lnTo>
                  <a:lnTo>
                    <a:pt x="0" y="21646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  <p:grpSp>
          <p:nvGrpSpPr>
            <p:cNvPr name="Group 18" id="18"/>
            <p:cNvGrpSpPr/>
            <p:nvPr/>
          </p:nvGrpSpPr>
          <p:grpSpPr>
            <a:xfrm rot="0">
              <a:off x="0" y="2317060"/>
              <a:ext cx="10503807" cy="759541"/>
              <a:chOff x="0" y="0"/>
              <a:chExt cx="2074826" cy="150033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2074826" cy="150033"/>
              </a:xfrm>
              <a:custGeom>
                <a:avLst/>
                <a:gdLst/>
                <a:ahLst/>
                <a:cxnLst/>
                <a:rect r="r" b="b" t="t" l="l"/>
                <a:pathLst>
                  <a:path h="150033" w="2074826">
                    <a:moveTo>
                      <a:pt x="50120" y="0"/>
                    </a:moveTo>
                    <a:lnTo>
                      <a:pt x="2024706" y="0"/>
                    </a:lnTo>
                    <a:cubicBezTo>
                      <a:pt x="2052387" y="0"/>
                      <a:pt x="2074826" y="22439"/>
                      <a:pt x="2074826" y="50120"/>
                    </a:cubicBezTo>
                    <a:lnTo>
                      <a:pt x="2074826" y="99913"/>
                    </a:lnTo>
                    <a:cubicBezTo>
                      <a:pt x="2074826" y="127593"/>
                      <a:pt x="2052387" y="150033"/>
                      <a:pt x="2024706" y="150033"/>
                    </a:cubicBezTo>
                    <a:lnTo>
                      <a:pt x="50120" y="150033"/>
                    </a:lnTo>
                    <a:cubicBezTo>
                      <a:pt x="22439" y="150033"/>
                      <a:pt x="0" y="127593"/>
                      <a:pt x="0" y="99913"/>
                    </a:cubicBezTo>
                    <a:lnTo>
                      <a:pt x="0" y="50120"/>
                    </a:lnTo>
                    <a:cubicBezTo>
                      <a:pt x="0" y="22439"/>
                      <a:pt x="22439" y="0"/>
                      <a:pt x="50120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F19A5C">
                      <a:alpha val="100000"/>
                    </a:srgbClr>
                  </a:gs>
                  <a:gs pos="100000">
                    <a:srgbClr val="F9DB6F">
                      <a:alpha val="100000"/>
                    </a:srgbClr>
                  </a:gs>
                </a:gsLst>
                <a:lin ang="0"/>
              </a:gra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28575"/>
                <a:ext cx="2074826" cy="17860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95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0" y="2452464"/>
              <a:ext cx="10598980" cy="4506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95"/>
                </a:lnSpc>
                <a:spcBef>
                  <a:spcPct val="0"/>
                </a:spcBef>
              </a:pPr>
              <a:r>
                <a:rPr lang="en-US" b="true" sz="2068" spc="26">
                  <a:solidFill>
                    <a:srgbClr val="000000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Deterministic · Local-first software · Confident Machine Vision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6348855" y="1091093"/>
            <a:ext cx="4774034" cy="6727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17"/>
              </a:lnSpc>
              <a:spcBef>
                <a:spcPct val="0"/>
              </a:spcBef>
            </a:pPr>
            <a:r>
              <a:rPr lang="en-US" b="true" sz="3512" spc="45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Transparent &amp; Accessible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406548" y="5202689"/>
            <a:ext cx="4477271" cy="6728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13"/>
              </a:lnSpc>
              <a:spcBef>
                <a:spcPct val="0"/>
              </a:spcBef>
            </a:pPr>
            <a:r>
              <a:rPr lang="en-US" b="true" sz="3509" spc="45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Consistency &amp; Accuracy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141030" y="8800777"/>
            <a:ext cx="3189684" cy="6728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13"/>
              </a:lnSpc>
              <a:spcBef>
                <a:spcPct val="0"/>
              </a:spcBef>
            </a:pPr>
            <a:r>
              <a:rPr lang="en-US" b="true" sz="3509" spc="45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Opaque &amp; Costly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0" y="5202689"/>
            <a:ext cx="5061893" cy="6728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13"/>
              </a:lnSpc>
              <a:spcBef>
                <a:spcPct val="0"/>
              </a:spcBef>
            </a:pPr>
            <a:r>
              <a:rPr lang="en-US" b="true" sz="3509" spc="45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Recognition Inaccuracy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4841253" y="2567844"/>
            <a:ext cx="5605000" cy="1708801"/>
            <a:chOff x="0" y="0"/>
            <a:chExt cx="7473333" cy="227840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433888" y="0"/>
              <a:ext cx="6605558" cy="1429959"/>
            </a:xfrm>
            <a:custGeom>
              <a:avLst/>
              <a:gdLst/>
              <a:ahLst/>
              <a:cxnLst/>
              <a:rect r="r" b="b" t="t" l="l"/>
              <a:pathLst>
                <a:path h="1429959" w="6605558">
                  <a:moveTo>
                    <a:pt x="0" y="0"/>
                  </a:moveTo>
                  <a:lnTo>
                    <a:pt x="6605558" y="0"/>
                  </a:lnTo>
                  <a:lnTo>
                    <a:pt x="6605558" y="1429959"/>
                  </a:lnTo>
                  <a:lnTo>
                    <a:pt x="0" y="14299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  <p:grpSp>
          <p:nvGrpSpPr>
            <p:cNvPr name="Group 28" id="28"/>
            <p:cNvGrpSpPr/>
            <p:nvPr/>
          </p:nvGrpSpPr>
          <p:grpSpPr>
            <a:xfrm rot="0">
              <a:off x="0" y="1518859"/>
              <a:ext cx="7406227" cy="759541"/>
              <a:chOff x="0" y="0"/>
              <a:chExt cx="1462959" cy="150033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1462958" cy="150033"/>
              </a:xfrm>
              <a:custGeom>
                <a:avLst/>
                <a:gdLst/>
                <a:ahLst/>
                <a:cxnLst/>
                <a:rect r="r" b="b" t="t" l="l"/>
                <a:pathLst>
                  <a:path h="150033" w="1462958">
                    <a:moveTo>
                      <a:pt x="71082" y="0"/>
                    </a:moveTo>
                    <a:lnTo>
                      <a:pt x="1391876" y="0"/>
                    </a:lnTo>
                    <a:cubicBezTo>
                      <a:pt x="1410729" y="0"/>
                      <a:pt x="1428809" y="7489"/>
                      <a:pt x="1442139" y="20819"/>
                    </a:cubicBezTo>
                    <a:cubicBezTo>
                      <a:pt x="1455469" y="34150"/>
                      <a:pt x="1462958" y="52230"/>
                      <a:pt x="1462958" y="71082"/>
                    </a:cubicBezTo>
                    <a:lnTo>
                      <a:pt x="1462958" y="78951"/>
                    </a:lnTo>
                    <a:cubicBezTo>
                      <a:pt x="1462958" y="118208"/>
                      <a:pt x="1431134" y="150033"/>
                      <a:pt x="1391876" y="150033"/>
                    </a:cubicBezTo>
                    <a:lnTo>
                      <a:pt x="71082" y="150033"/>
                    </a:lnTo>
                    <a:cubicBezTo>
                      <a:pt x="52230" y="150033"/>
                      <a:pt x="34150" y="142544"/>
                      <a:pt x="20819" y="129213"/>
                    </a:cubicBezTo>
                    <a:cubicBezTo>
                      <a:pt x="7489" y="115883"/>
                      <a:pt x="0" y="97803"/>
                      <a:pt x="0" y="78951"/>
                    </a:cubicBezTo>
                    <a:lnTo>
                      <a:pt x="0" y="71082"/>
                    </a:lnTo>
                    <a:cubicBezTo>
                      <a:pt x="0" y="52230"/>
                      <a:pt x="7489" y="34150"/>
                      <a:pt x="20819" y="20819"/>
                    </a:cubicBezTo>
                    <a:cubicBezTo>
                      <a:pt x="34150" y="7489"/>
                      <a:pt x="52230" y="0"/>
                      <a:pt x="71082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FEFFFF">
                      <a:alpha val="100000"/>
                    </a:srgbClr>
                  </a:gs>
                  <a:gs pos="100000">
                    <a:srgbClr val="C5C5C5">
                      <a:alpha val="100000"/>
                    </a:srgbClr>
                  </a:gs>
                </a:gsLst>
                <a:lin ang="5400000"/>
              </a:grad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28575"/>
                <a:ext cx="1462959" cy="17860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195"/>
                  </a:lnSpc>
                </a:pPr>
              </a:p>
            </p:txBody>
          </p:sp>
        </p:grpSp>
        <p:sp>
          <p:nvSpPr>
            <p:cNvPr name="TextBox 31" id="31"/>
            <p:cNvSpPr txBox="true"/>
            <p:nvPr/>
          </p:nvSpPr>
          <p:spPr>
            <a:xfrm rot="0">
              <a:off x="0" y="1654264"/>
              <a:ext cx="7473333" cy="4506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95"/>
                </a:lnSpc>
                <a:spcBef>
                  <a:spcPct val="0"/>
                </a:spcBef>
              </a:pPr>
              <a:r>
                <a:rPr lang="en-US" b="true" sz="2068" spc="26">
                  <a:solidFill>
                    <a:srgbClr val="000000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Free · Occasional erroneous output </a:t>
              </a: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375698" y="205769"/>
            <a:ext cx="10254925" cy="10946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959"/>
              </a:lnSpc>
              <a:spcBef>
                <a:spcPct val="0"/>
              </a:spcBef>
            </a:pPr>
            <a:r>
              <a:rPr lang="en-US" sz="6399" spc="83">
                <a:gradFill>
                  <a:gsLst>
                    <a:gs pos="0">
                      <a:srgbClr val="FF3131">
                        <a:alpha val="100000"/>
                      </a:srgbClr>
                    </a:gs>
                    <a:gs pos="100000">
                      <a:srgbClr val="FF914D">
                        <a:alpha val="100000"/>
                      </a:srgbClr>
                    </a:gs>
                  </a:gsLst>
                  <a:lin ang="0"/>
                </a:gradFill>
                <a:latin typeface="League Spartan"/>
                <a:ea typeface="League Spartan"/>
                <a:cs typeface="League Spartan"/>
                <a:sym typeface="League Spartan"/>
              </a:rPr>
              <a:t>Our Competitive Edge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49728" y="1980402"/>
            <a:ext cx="7264770" cy="3086195"/>
            <a:chOff x="0" y="0"/>
            <a:chExt cx="1913372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913372" cy="812800"/>
            </a:xfrm>
            <a:custGeom>
              <a:avLst/>
              <a:gdLst/>
              <a:ahLst/>
              <a:cxnLst/>
              <a:rect r="r" b="b" t="t" l="l"/>
              <a:pathLst>
                <a:path h="812800" w="1913372">
                  <a:moveTo>
                    <a:pt x="1913372" y="0"/>
                  </a:moveTo>
                  <a:lnTo>
                    <a:pt x="1913372" y="812800"/>
                  </a:lnTo>
                  <a:lnTo>
                    <a:pt x="0" y="812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A51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913372" cy="8604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94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439857" y="1980402"/>
            <a:ext cx="10200876" cy="3086100"/>
            <a:chOff x="0" y="0"/>
            <a:chExt cx="268665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686651" cy="812800"/>
            </a:xfrm>
            <a:custGeom>
              <a:avLst/>
              <a:gdLst/>
              <a:ahLst/>
              <a:cxnLst/>
              <a:rect r="r" b="b" t="t" l="l"/>
              <a:pathLst>
                <a:path h="812800" w="2686651">
                  <a:moveTo>
                    <a:pt x="0" y="0"/>
                  </a:moveTo>
                  <a:lnTo>
                    <a:pt x="2686651" y="0"/>
                  </a:lnTo>
                  <a:lnTo>
                    <a:pt x="2686651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D21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2686650" cy="8604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94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2030600" y="5647527"/>
            <a:ext cx="21074747" cy="3086100"/>
            <a:chOff x="0" y="0"/>
            <a:chExt cx="5550551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550551" cy="812800"/>
            </a:xfrm>
            <a:custGeom>
              <a:avLst/>
              <a:gdLst/>
              <a:ahLst/>
              <a:cxnLst/>
              <a:rect r="r" b="b" t="t" l="l"/>
              <a:pathLst>
                <a:path h="812800" w="5550551">
                  <a:moveTo>
                    <a:pt x="0" y="0"/>
                  </a:moveTo>
                  <a:lnTo>
                    <a:pt x="5550551" y="0"/>
                  </a:lnTo>
                  <a:lnTo>
                    <a:pt x="5550551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D21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5550551" cy="8604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94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49387" y="2810899"/>
            <a:ext cx="6666540" cy="9701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45"/>
              </a:lnSpc>
            </a:pPr>
            <a:r>
              <a:rPr lang="en-US" sz="2675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“The tool to create websites straight from your imagination” 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2730727" y="9314652"/>
            <a:ext cx="8568878" cy="3416737"/>
            <a:chOff x="0" y="0"/>
            <a:chExt cx="2256824" cy="89988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256824" cy="899882"/>
            </a:xfrm>
            <a:custGeom>
              <a:avLst/>
              <a:gdLst/>
              <a:ahLst/>
              <a:cxnLst/>
              <a:rect r="r" b="b" t="t" l="l"/>
              <a:pathLst>
                <a:path h="899882" w="2256824">
                  <a:moveTo>
                    <a:pt x="0" y="0"/>
                  </a:moveTo>
                  <a:lnTo>
                    <a:pt x="2256824" y="0"/>
                  </a:lnTo>
                  <a:lnTo>
                    <a:pt x="2256824" y="899882"/>
                  </a:lnTo>
                  <a:lnTo>
                    <a:pt x="0" y="899882"/>
                  </a:lnTo>
                  <a:close/>
                </a:path>
              </a:pathLst>
            </a:custGeom>
            <a:solidFill>
              <a:srgbClr val="FFD21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47625"/>
              <a:ext cx="2256824" cy="9475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94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8972371" y="2810899"/>
            <a:ext cx="6666540" cy="9701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745"/>
              </a:lnSpc>
            </a:pPr>
            <a:r>
              <a:rPr lang="en-US" sz="2675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Our business plan is to charge the use of generative AI through a subscription service.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-366741" y="9314652"/>
            <a:ext cx="11715198" cy="3029748"/>
            <a:chOff x="0" y="0"/>
            <a:chExt cx="3085484" cy="79795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085484" cy="797958"/>
            </a:xfrm>
            <a:custGeom>
              <a:avLst/>
              <a:gdLst/>
              <a:ahLst/>
              <a:cxnLst/>
              <a:rect r="r" b="b" t="t" l="l"/>
              <a:pathLst>
                <a:path h="797958" w="3085484">
                  <a:moveTo>
                    <a:pt x="0" y="0"/>
                  </a:moveTo>
                  <a:lnTo>
                    <a:pt x="3085484" y="0"/>
                  </a:lnTo>
                  <a:lnTo>
                    <a:pt x="3085484" y="797958"/>
                  </a:lnTo>
                  <a:lnTo>
                    <a:pt x="0" y="797958"/>
                  </a:lnTo>
                  <a:close/>
                </a:path>
              </a:pathLst>
            </a:custGeom>
            <a:solidFill>
              <a:srgbClr val="FFA51F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47625"/>
              <a:ext cx="3085484" cy="8455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94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142984" y="6589767"/>
            <a:ext cx="8794622" cy="1436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745"/>
              </a:lnSpc>
            </a:pPr>
            <a:r>
              <a:rPr lang="en-US" sz="2675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This ensures a good user experience even if the user doesn’t pay, but also convinces the user to pay more, once they want more features.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75792" y="155283"/>
            <a:ext cx="10110666" cy="1043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073"/>
              </a:lnSpc>
              <a:spcBef>
                <a:spcPct val="0"/>
              </a:spcBef>
            </a:pPr>
            <a:r>
              <a:rPr lang="en-US" b="true" sz="643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Branding and Business Plans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57724" y="1849145"/>
            <a:ext cx="5374083" cy="7040001"/>
            <a:chOff x="0" y="0"/>
            <a:chExt cx="1496773" cy="19607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96773" cy="1960760"/>
            </a:xfrm>
            <a:custGeom>
              <a:avLst/>
              <a:gdLst/>
              <a:ahLst/>
              <a:cxnLst/>
              <a:rect r="r" b="b" t="t" l="l"/>
              <a:pathLst>
                <a:path h="1960760" w="1496773">
                  <a:moveTo>
                    <a:pt x="122451" y="0"/>
                  </a:moveTo>
                  <a:lnTo>
                    <a:pt x="1374322" y="0"/>
                  </a:lnTo>
                  <a:cubicBezTo>
                    <a:pt x="1441950" y="0"/>
                    <a:pt x="1496773" y="54823"/>
                    <a:pt x="1496773" y="122451"/>
                  </a:cubicBezTo>
                  <a:lnTo>
                    <a:pt x="1496773" y="1838309"/>
                  </a:lnTo>
                  <a:cubicBezTo>
                    <a:pt x="1496773" y="1905937"/>
                    <a:pt x="1441950" y="1960760"/>
                    <a:pt x="1374322" y="1960760"/>
                  </a:cubicBezTo>
                  <a:lnTo>
                    <a:pt x="122451" y="1960760"/>
                  </a:lnTo>
                  <a:cubicBezTo>
                    <a:pt x="54823" y="1960760"/>
                    <a:pt x="0" y="1905937"/>
                    <a:pt x="0" y="1838309"/>
                  </a:cubicBezTo>
                  <a:lnTo>
                    <a:pt x="0" y="122451"/>
                  </a:lnTo>
                  <a:cubicBezTo>
                    <a:pt x="0" y="54823"/>
                    <a:pt x="54823" y="0"/>
                    <a:pt x="122451" y="0"/>
                  </a:cubicBezTo>
                  <a:close/>
                </a:path>
              </a:pathLst>
            </a:custGeom>
            <a:solidFill>
              <a:srgbClr val="FFEB99"/>
            </a:solidFill>
            <a:ln w="47625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496773" cy="20083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94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429167" y="1862102"/>
            <a:ext cx="5563695" cy="7027044"/>
            <a:chOff x="0" y="0"/>
            <a:chExt cx="1549584" cy="195715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49584" cy="1957151"/>
            </a:xfrm>
            <a:custGeom>
              <a:avLst/>
              <a:gdLst/>
              <a:ahLst/>
              <a:cxnLst/>
              <a:rect r="r" b="b" t="t" l="l"/>
              <a:pathLst>
                <a:path h="1957151" w="1549584">
                  <a:moveTo>
                    <a:pt x="118278" y="0"/>
                  </a:moveTo>
                  <a:lnTo>
                    <a:pt x="1431306" y="0"/>
                  </a:lnTo>
                  <a:cubicBezTo>
                    <a:pt x="1496629" y="0"/>
                    <a:pt x="1549584" y="52955"/>
                    <a:pt x="1549584" y="118278"/>
                  </a:cubicBezTo>
                  <a:lnTo>
                    <a:pt x="1549584" y="1838873"/>
                  </a:lnTo>
                  <a:cubicBezTo>
                    <a:pt x="1549584" y="1904196"/>
                    <a:pt x="1496629" y="1957151"/>
                    <a:pt x="1431306" y="1957151"/>
                  </a:cubicBezTo>
                  <a:lnTo>
                    <a:pt x="118278" y="1957151"/>
                  </a:lnTo>
                  <a:cubicBezTo>
                    <a:pt x="52955" y="1957151"/>
                    <a:pt x="0" y="1904196"/>
                    <a:pt x="0" y="1838873"/>
                  </a:cubicBezTo>
                  <a:lnTo>
                    <a:pt x="0" y="118278"/>
                  </a:lnTo>
                  <a:cubicBezTo>
                    <a:pt x="0" y="52955"/>
                    <a:pt x="52955" y="0"/>
                    <a:pt x="118278" y="0"/>
                  </a:cubicBezTo>
                  <a:close/>
                </a:path>
              </a:pathLst>
            </a:custGeom>
            <a:solidFill>
              <a:srgbClr val="FFE7C2"/>
            </a:solidFill>
            <a:ln w="47625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1549584" cy="20047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94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2290098" y="1849145"/>
            <a:ext cx="5240178" cy="7040001"/>
            <a:chOff x="0" y="0"/>
            <a:chExt cx="1459479" cy="196076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59479" cy="1960760"/>
            </a:xfrm>
            <a:custGeom>
              <a:avLst/>
              <a:gdLst/>
              <a:ahLst/>
              <a:cxnLst/>
              <a:rect r="r" b="b" t="t" l="l"/>
              <a:pathLst>
                <a:path h="1960760" w="1459479">
                  <a:moveTo>
                    <a:pt x="125580" y="0"/>
                  </a:moveTo>
                  <a:lnTo>
                    <a:pt x="1333898" y="0"/>
                  </a:lnTo>
                  <a:cubicBezTo>
                    <a:pt x="1403255" y="0"/>
                    <a:pt x="1459479" y="56224"/>
                    <a:pt x="1459479" y="125580"/>
                  </a:cubicBezTo>
                  <a:lnTo>
                    <a:pt x="1459479" y="1835180"/>
                  </a:lnTo>
                  <a:cubicBezTo>
                    <a:pt x="1459479" y="1868486"/>
                    <a:pt x="1446248" y="1900427"/>
                    <a:pt x="1422697" y="1923978"/>
                  </a:cubicBezTo>
                  <a:cubicBezTo>
                    <a:pt x="1399146" y="1947529"/>
                    <a:pt x="1367204" y="1960760"/>
                    <a:pt x="1333898" y="1960760"/>
                  </a:cubicBezTo>
                  <a:lnTo>
                    <a:pt x="125580" y="1960760"/>
                  </a:lnTo>
                  <a:cubicBezTo>
                    <a:pt x="56224" y="1960760"/>
                    <a:pt x="0" y="1904536"/>
                    <a:pt x="0" y="1835180"/>
                  </a:cubicBezTo>
                  <a:lnTo>
                    <a:pt x="0" y="125580"/>
                  </a:lnTo>
                  <a:cubicBezTo>
                    <a:pt x="0" y="56224"/>
                    <a:pt x="56224" y="0"/>
                    <a:pt x="125580" y="0"/>
                  </a:cubicBezTo>
                  <a:close/>
                </a:path>
              </a:pathLst>
            </a:custGeom>
            <a:solidFill>
              <a:srgbClr val="FFD9C2"/>
            </a:solidFill>
            <a:ln w="47625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1459479" cy="20083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94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033927" y="1960703"/>
            <a:ext cx="903650" cy="903712"/>
            <a:chOff x="0" y="0"/>
            <a:chExt cx="1204866" cy="1204950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0" y="0"/>
              <a:ext cx="1204866" cy="1204866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751F"/>
              </a:solidFill>
              <a:ln w="38100" cap="sq">
                <a:solidFill>
                  <a:srgbClr val="1E1B3A"/>
                </a:solidFill>
                <a:prstDash val="lgDash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994"/>
                  </a:lnSpc>
                </a:pPr>
              </a:p>
            </p:txBody>
          </p:sp>
        </p:grpSp>
        <p:sp>
          <p:nvSpPr>
            <p:cNvPr name="TextBox 15" id="15"/>
            <p:cNvSpPr txBox="true"/>
            <p:nvPr/>
          </p:nvSpPr>
          <p:spPr>
            <a:xfrm rot="0">
              <a:off x="0" y="91742"/>
              <a:ext cx="1204866" cy="11132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068"/>
                </a:lnSpc>
                <a:spcBef>
                  <a:spcPct val="0"/>
                </a:spcBef>
              </a:pPr>
              <a:r>
                <a:rPr lang="en-US" sz="5048" spc="65">
                  <a:solidFill>
                    <a:srgbClr val="F3F3F3"/>
                  </a:solidFill>
                  <a:latin typeface="Distillery Display"/>
                  <a:ea typeface="Distillery Display"/>
                  <a:cs typeface="Distillery Display"/>
                  <a:sym typeface="Distillery Display"/>
                </a:rPr>
                <a:t>1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4448628" y="1960766"/>
            <a:ext cx="903650" cy="903650"/>
            <a:chOff x="0" y="0"/>
            <a:chExt cx="1204866" cy="1204866"/>
          </a:xfrm>
        </p:grpSpPr>
        <p:grpSp>
          <p:nvGrpSpPr>
            <p:cNvPr name="Group 17" id="17"/>
            <p:cNvGrpSpPr/>
            <p:nvPr/>
          </p:nvGrpSpPr>
          <p:grpSpPr>
            <a:xfrm rot="0">
              <a:off x="0" y="0"/>
              <a:ext cx="1204866" cy="1204866"/>
              <a:chOff x="0" y="0"/>
              <a:chExt cx="812800" cy="812800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751F"/>
              </a:solidFill>
              <a:ln w="38100" cap="sq">
                <a:solidFill>
                  <a:srgbClr val="1E1B3A"/>
                </a:solidFill>
                <a:prstDash val="lgDash"/>
                <a:miter/>
              </a:ln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994"/>
                  </a:lnSpc>
                </a:pPr>
              </a:p>
            </p:txBody>
          </p:sp>
        </p:grpSp>
        <p:sp>
          <p:nvSpPr>
            <p:cNvPr name="TextBox 20" id="20"/>
            <p:cNvSpPr txBox="true"/>
            <p:nvPr/>
          </p:nvSpPr>
          <p:spPr>
            <a:xfrm rot="0">
              <a:off x="0" y="91742"/>
              <a:ext cx="1204866" cy="111312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068"/>
                </a:lnSpc>
                <a:spcBef>
                  <a:spcPct val="0"/>
                </a:spcBef>
              </a:pPr>
              <a:r>
                <a:rPr lang="en-US" sz="5048" spc="65">
                  <a:solidFill>
                    <a:srgbClr val="F3F3F3"/>
                  </a:solidFill>
                  <a:latin typeface="Distillery Display"/>
                  <a:ea typeface="Distillery Display"/>
                  <a:cs typeface="Distillery Display"/>
                  <a:sym typeface="Distillery Display"/>
                </a:rPr>
                <a:t>3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785505" y="1960766"/>
            <a:ext cx="903650" cy="903712"/>
            <a:chOff x="0" y="0"/>
            <a:chExt cx="1204866" cy="1204950"/>
          </a:xfrm>
        </p:grpSpPr>
        <p:grpSp>
          <p:nvGrpSpPr>
            <p:cNvPr name="Group 22" id="22"/>
            <p:cNvGrpSpPr/>
            <p:nvPr/>
          </p:nvGrpSpPr>
          <p:grpSpPr>
            <a:xfrm rot="0">
              <a:off x="0" y="0"/>
              <a:ext cx="1204866" cy="1204866"/>
              <a:chOff x="0" y="0"/>
              <a:chExt cx="812800" cy="812800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751F"/>
              </a:solidFill>
              <a:ln w="38100" cap="sq">
                <a:solidFill>
                  <a:srgbClr val="1E1B3A"/>
                </a:solidFill>
                <a:prstDash val="lgDash"/>
                <a:miter/>
              </a:ln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994"/>
                  </a:lnSpc>
                </a:pPr>
              </a:p>
            </p:txBody>
          </p:sp>
        </p:grpSp>
        <p:sp>
          <p:nvSpPr>
            <p:cNvPr name="TextBox 25" id="25"/>
            <p:cNvSpPr txBox="true"/>
            <p:nvPr/>
          </p:nvSpPr>
          <p:spPr>
            <a:xfrm rot="0">
              <a:off x="0" y="91742"/>
              <a:ext cx="1204866" cy="11132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7068"/>
                </a:lnSpc>
                <a:spcBef>
                  <a:spcPct val="0"/>
                </a:spcBef>
              </a:pPr>
              <a:r>
                <a:rPr lang="en-US" sz="5048" spc="65">
                  <a:solidFill>
                    <a:srgbClr val="F3F3F3"/>
                  </a:solidFill>
                  <a:latin typeface="Distillery Display"/>
                  <a:ea typeface="Distillery Display"/>
                  <a:cs typeface="Distillery Display"/>
                  <a:sym typeface="Distillery Display"/>
                </a:rPr>
                <a:t>2</a:t>
              </a: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056414" y="4921730"/>
            <a:ext cx="4858677" cy="3469350"/>
          </a:xfrm>
          <a:custGeom>
            <a:avLst/>
            <a:gdLst/>
            <a:ahLst/>
            <a:cxnLst/>
            <a:rect r="r" b="b" t="t" l="l"/>
            <a:pathLst>
              <a:path h="3469350" w="4858677">
                <a:moveTo>
                  <a:pt x="0" y="0"/>
                </a:moveTo>
                <a:lnTo>
                  <a:pt x="4858677" y="0"/>
                </a:lnTo>
                <a:lnTo>
                  <a:pt x="4858677" y="3469349"/>
                </a:lnTo>
                <a:lnTo>
                  <a:pt x="0" y="346934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7390446" y="4921730"/>
            <a:ext cx="3693769" cy="3693769"/>
          </a:xfrm>
          <a:custGeom>
            <a:avLst/>
            <a:gdLst/>
            <a:ahLst/>
            <a:cxnLst/>
            <a:rect r="r" b="b" t="t" l="l"/>
            <a:pathLst>
              <a:path h="3693769" w="3693769">
                <a:moveTo>
                  <a:pt x="0" y="0"/>
                </a:moveTo>
                <a:lnTo>
                  <a:pt x="3693769" y="0"/>
                </a:lnTo>
                <a:lnTo>
                  <a:pt x="3693769" y="3693769"/>
                </a:lnTo>
                <a:lnTo>
                  <a:pt x="0" y="36937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12953001" y="4638607"/>
            <a:ext cx="3962816" cy="3962816"/>
          </a:xfrm>
          <a:custGeom>
            <a:avLst/>
            <a:gdLst/>
            <a:ahLst/>
            <a:cxnLst/>
            <a:rect r="r" b="b" t="t" l="l"/>
            <a:pathLst>
              <a:path h="3962816" w="3962816">
                <a:moveTo>
                  <a:pt x="0" y="0"/>
                </a:moveTo>
                <a:lnTo>
                  <a:pt x="3962816" y="0"/>
                </a:lnTo>
                <a:lnTo>
                  <a:pt x="3962816" y="3962816"/>
                </a:lnTo>
                <a:lnTo>
                  <a:pt x="0" y="39628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6677004" y="2899280"/>
            <a:ext cx="5120653" cy="5509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2"/>
              </a:lnSpc>
              <a:spcBef>
                <a:spcPct val="0"/>
              </a:spcBef>
            </a:pPr>
            <a:r>
              <a:rPr lang="en-US" sz="3252" spc="42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Local and cost-friendly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173639" y="2857978"/>
            <a:ext cx="4624227" cy="11273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2"/>
              </a:lnSpc>
              <a:spcBef>
                <a:spcPct val="0"/>
              </a:spcBef>
            </a:pPr>
            <a:r>
              <a:rPr lang="en-US" sz="3252" spc="42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Lowers barrier to website-building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504905" y="2857978"/>
            <a:ext cx="4810565" cy="537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98"/>
              </a:lnSpc>
              <a:spcBef>
                <a:spcPct val="0"/>
              </a:spcBef>
            </a:pPr>
            <a:r>
              <a:rPr lang="en-US" sz="3212" spc="41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Retains creativity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512315" y="3909113"/>
            <a:ext cx="3864899" cy="7294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31"/>
              </a:lnSpc>
              <a:spcBef>
                <a:spcPct val="0"/>
              </a:spcBef>
            </a:pPr>
            <a:r>
              <a:rPr lang="en-US" sz="2022" spc="2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Anyone who can sketch can produce a website prototype.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6856269" y="3608068"/>
            <a:ext cx="4762122" cy="7294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31"/>
              </a:lnSpc>
              <a:spcBef>
                <a:spcPct val="0"/>
              </a:spcBef>
            </a:pPr>
            <a:r>
              <a:rPr lang="en-US" sz="2022" spc="2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Accessible for large amounts of people, and the Realtime mode is completely free.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2553348" y="3471920"/>
            <a:ext cx="4762122" cy="7294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31"/>
              </a:lnSpc>
              <a:spcBef>
                <a:spcPct val="0"/>
              </a:spcBef>
            </a:pPr>
            <a:r>
              <a:rPr lang="en-US" sz="2022" spc="2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Users can adjust interface components and the theme style.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275792" y="155283"/>
            <a:ext cx="7918117" cy="1043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073"/>
              </a:lnSpc>
              <a:spcBef>
                <a:spcPct val="0"/>
              </a:spcBef>
            </a:pPr>
            <a:r>
              <a:rPr lang="en-US" b="true" sz="643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Social Impacts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497222" y="2149669"/>
            <a:ext cx="13249047" cy="1500294"/>
            <a:chOff x="0" y="0"/>
            <a:chExt cx="3489461" cy="39513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489461" cy="395139"/>
            </a:xfrm>
            <a:custGeom>
              <a:avLst/>
              <a:gdLst/>
              <a:ahLst/>
              <a:cxnLst/>
              <a:rect r="r" b="b" t="t" l="l"/>
              <a:pathLst>
                <a:path h="395139" w="3489461">
                  <a:moveTo>
                    <a:pt x="29801" y="0"/>
                  </a:moveTo>
                  <a:lnTo>
                    <a:pt x="3459660" y="0"/>
                  </a:lnTo>
                  <a:cubicBezTo>
                    <a:pt x="3476118" y="0"/>
                    <a:pt x="3489461" y="13342"/>
                    <a:pt x="3489461" y="29801"/>
                  </a:cubicBezTo>
                  <a:lnTo>
                    <a:pt x="3489461" y="365338"/>
                  </a:lnTo>
                  <a:cubicBezTo>
                    <a:pt x="3489461" y="381797"/>
                    <a:pt x="3476118" y="395139"/>
                    <a:pt x="3459660" y="395139"/>
                  </a:cubicBezTo>
                  <a:lnTo>
                    <a:pt x="29801" y="395139"/>
                  </a:lnTo>
                  <a:cubicBezTo>
                    <a:pt x="13342" y="395139"/>
                    <a:pt x="0" y="381797"/>
                    <a:pt x="0" y="365338"/>
                  </a:cubicBezTo>
                  <a:lnTo>
                    <a:pt x="0" y="29801"/>
                  </a:lnTo>
                  <a:cubicBezTo>
                    <a:pt x="0" y="13342"/>
                    <a:pt x="13342" y="0"/>
                    <a:pt x="29801" y="0"/>
                  </a:cubicBezTo>
                  <a:close/>
                </a:path>
              </a:pathLst>
            </a:custGeom>
            <a:solidFill>
              <a:srgbClr val="FFC2C2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14300"/>
              <a:ext cx="3489461" cy="5094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480"/>
                </a:lnSpc>
              </a:pPr>
              <a:r>
                <a:rPr lang="en-US" b="true" sz="3200" spc="4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Adding functionality based on user intents (from feedback surveys)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334260" y="-61563"/>
            <a:ext cx="5447111" cy="13888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075"/>
              </a:lnSpc>
            </a:pPr>
            <a:r>
              <a:rPr lang="en-US" sz="7196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Future plans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497222" y="4069063"/>
            <a:ext cx="13249047" cy="1500294"/>
            <a:chOff x="0" y="0"/>
            <a:chExt cx="3489461" cy="39513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489461" cy="395139"/>
            </a:xfrm>
            <a:custGeom>
              <a:avLst/>
              <a:gdLst/>
              <a:ahLst/>
              <a:cxnLst/>
              <a:rect r="r" b="b" t="t" l="l"/>
              <a:pathLst>
                <a:path h="395139" w="3489461">
                  <a:moveTo>
                    <a:pt x="29801" y="0"/>
                  </a:moveTo>
                  <a:lnTo>
                    <a:pt x="3459660" y="0"/>
                  </a:lnTo>
                  <a:cubicBezTo>
                    <a:pt x="3476118" y="0"/>
                    <a:pt x="3489461" y="13342"/>
                    <a:pt x="3489461" y="29801"/>
                  </a:cubicBezTo>
                  <a:lnTo>
                    <a:pt x="3489461" y="365338"/>
                  </a:lnTo>
                  <a:cubicBezTo>
                    <a:pt x="3489461" y="381797"/>
                    <a:pt x="3476118" y="395139"/>
                    <a:pt x="3459660" y="395139"/>
                  </a:cubicBezTo>
                  <a:lnTo>
                    <a:pt x="29801" y="395139"/>
                  </a:lnTo>
                  <a:cubicBezTo>
                    <a:pt x="13342" y="395139"/>
                    <a:pt x="0" y="381797"/>
                    <a:pt x="0" y="365338"/>
                  </a:cubicBezTo>
                  <a:lnTo>
                    <a:pt x="0" y="29801"/>
                  </a:lnTo>
                  <a:cubicBezTo>
                    <a:pt x="0" y="13342"/>
                    <a:pt x="13342" y="0"/>
                    <a:pt x="29801" y="0"/>
                  </a:cubicBezTo>
                  <a:close/>
                </a:path>
              </a:pathLst>
            </a:custGeom>
            <a:solidFill>
              <a:srgbClr val="FFD9C2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114300"/>
              <a:ext cx="3489461" cy="5094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480"/>
                </a:lnSpc>
              </a:pPr>
              <a:r>
                <a:rPr lang="en-US" b="true" sz="3200" spc="4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Model training for more accurate results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3497222" y="5988457"/>
            <a:ext cx="13249047" cy="1500294"/>
            <a:chOff x="0" y="0"/>
            <a:chExt cx="3489461" cy="39513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489461" cy="395139"/>
            </a:xfrm>
            <a:custGeom>
              <a:avLst/>
              <a:gdLst/>
              <a:ahLst/>
              <a:cxnLst/>
              <a:rect r="r" b="b" t="t" l="l"/>
              <a:pathLst>
                <a:path h="395139" w="3489461">
                  <a:moveTo>
                    <a:pt x="29801" y="0"/>
                  </a:moveTo>
                  <a:lnTo>
                    <a:pt x="3459660" y="0"/>
                  </a:lnTo>
                  <a:cubicBezTo>
                    <a:pt x="3476118" y="0"/>
                    <a:pt x="3489461" y="13342"/>
                    <a:pt x="3489461" y="29801"/>
                  </a:cubicBezTo>
                  <a:lnTo>
                    <a:pt x="3489461" y="365338"/>
                  </a:lnTo>
                  <a:cubicBezTo>
                    <a:pt x="3489461" y="381797"/>
                    <a:pt x="3476118" y="395139"/>
                    <a:pt x="3459660" y="395139"/>
                  </a:cubicBezTo>
                  <a:lnTo>
                    <a:pt x="29801" y="395139"/>
                  </a:lnTo>
                  <a:cubicBezTo>
                    <a:pt x="13342" y="395139"/>
                    <a:pt x="0" y="381797"/>
                    <a:pt x="0" y="365338"/>
                  </a:cubicBezTo>
                  <a:lnTo>
                    <a:pt x="0" y="29801"/>
                  </a:lnTo>
                  <a:cubicBezTo>
                    <a:pt x="0" y="13342"/>
                    <a:pt x="13342" y="0"/>
                    <a:pt x="29801" y="0"/>
                  </a:cubicBezTo>
                  <a:close/>
                </a:path>
              </a:pathLst>
            </a:custGeom>
            <a:solidFill>
              <a:srgbClr val="FFE7C2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114300"/>
              <a:ext cx="3489461" cy="5094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480"/>
                </a:lnSpc>
              </a:pPr>
              <a:r>
                <a:rPr lang="en-US" b="true" sz="3200" spc="4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Further Marketing 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3497222" y="7907851"/>
            <a:ext cx="13249047" cy="1500294"/>
            <a:chOff x="0" y="0"/>
            <a:chExt cx="3489461" cy="39513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489461" cy="395139"/>
            </a:xfrm>
            <a:custGeom>
              <a:avLst/>
              <a:gdLst/>
              <a:ahLst/>
              <a:cxnLst/>
              <a:rect r="r" b="b" t="t" l="l"/>
              <a:pathLst>
                <a:path h="395139" w="3489461">
                  <a:moveTo>
                    <a:pt x="29801" y="0"/>
                  </a:moveTo>
                  <a:lnTo>
                    <a:pt x="3459660" y="0"/>
                  </a:lnTo>
                  <a:cubicBezTo>
                    <a:pt x="3476118" y="0"/>
                    <a:pt x="3489461" y="13342"/>
                    <a:pt x="3489461" y="29801"/>
                  </a:cubicBezTo>
                  <a:lnTo>
                    <a:pt x="3489461" y="365338"/>
                  </a:lnTo>
                  <a:cubicBezTo>
                    <a:pt x="3489461" y="381797"/>
                    <a:pt x="3476118" y="395139"/>
                    <a:pt x="3459660" y="395139"/>
                  </a:cubicBezTo>
                  <a:lnTo>
                    <a:pt x="29801" y="395139"/>
                  </a:lnTo>
                  <a:cubicBezTo>
                    <a:pt x="13342" y="395139"/>
                    <a:pt x="0" y="381797"/>
                    <a:pt x="0" y="365338"/>
                  </a:cubicBezTo>
                  <a:lnTo>
                    <a:pt x="0" y="29801"/>
                  </a:lnTo>
                  <a:cubicBezTo>
                    <a:pt x="0" y="13342"/>
                    <a:pt x="13342" y="0"/>
                    <a:pt x="29801" y="0"/>
                  </a:cubicBezTo>
                  <a:close/>
                </a:path>
              </a:pathLst>
            </a:custGeom>
            <a:solidFill>
              <a:srgbClr val="FFEB99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114300"/>
              <a:ext cx="3489461" cy="5094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480"/>
                </a:lnSpc>
              </a:pPr>
              <a:r>
                <a:rPr lang="en-US" b="true" sz="3200" spc="4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Advertising on social media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914457" y="2247960"/>
            <a:ext cx="1303621" cy="1303711"/>
            <a:chOff x="0" y="0"/>
            <a:chExt cx="1738161" cy="1738282"/>
          </a:xfrm>
        </p:grpSpPr>
        <p:grpSp>
          <p:nvGrpSpPr>
            <p:cNvPr name="Group 16" id="16"/>
            <p:cNvGrpSpPr/>
            <p:nvPr/>
          </p:nvGrpSpPr>
          <p:grpSpPr>
            <a:xfrm rot="0">
              <a:off x="0" y="0"/>
              <a:ext cx="1738161" cy="1738161"/>
              <a:chOff x="0" y="0"/>
              <a:chExt cx="812800" cy="81280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751F"/>
              </a:solidFill>
              <a:ln w="38100" cap="sq">
                <a:solidFill>
                  <a:srgbClr val="1E1B3A"/>
                </a:solidFill>
                <a:prstDash val="lgDash"/>
                <a:miter/>
              </a:ln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994"/>
                  </a:lnSpc>
                </a:pPr>
              </a:p>
            </p:txBody>
          </p:sp>
        </p:grpSp>
        <p:sp>
          <p:nvSpPr>
            <p:cNvPr name="TextBox 19" id="19"/>
            <p:cNvSpPr txBox="true"/>
            <p:nvPr/>
          </p:nvSpPr>
          <p:spPr>
            <a:xfrm rot="0">
              <a:off x="0" y="136408"/>
              <a:ext cx="1738161" cy="16018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196"/>
                </a:lnSpc>
                <a:spcBef>
                  <a:spcPct val="0"/>
                </a:spcBef>
              </a:pPr>
              <a:r>
                <a:rPr lang="en-US" sz="7283" spc="94">
                  <a:solidFill>
                    <a:srgbClr val="F3F3F3"/>
                  </a:solidFill>
                  <a:latin typeface="Distillery Display"/>
                  <a:ea typeface="Distillery Display"/>
                  <a:cs typeface="Distillery Display"/>
                  <a:sym typeface="Distillery Display"/>
                </a:rPr>
                <a:t>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914457" y="4167354"/>
            <a:ext cx="1303621" cy="1303711"/>
            <a:chOff x="0" y="0"/>
            <a:chExt cx="1738161" cy="1738282"/>
          </a:xfrm>
        </p:grpSpPr>
        <p:grpSp>
          <p:nvGrpSpPr>
            <p:cNvPr name="Group 21" id="21"/>
            <p:cNvGrpSpPr/>
            <p:nvPr/>
          </p:nvGrpSpPr>
          <p:grpSpPr>
            <a:xfrm rot="0">
              <a:off x="0" y="0"/>
              <a:ext cx="1738161" cy="1738161"/>
              <a:chOff x="0" y="0"/>
              <a:chExt cx="812800" cy="812800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751F"/>
              </a:solidFill>
              <a:ln w="38100" cap="sq">
                <a:solidFill>
                  <a:srgbClr val="1E1B3A"/>
                </a:solidFill>
                <a:prstDash val="lgDash"/>
                <a:miter/>
              </a:ln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994"/>
                  </a:lnSpc>
                </a:pPr>
              </a:p>
            </p:txBody>
          </p:sp>
        </p:grpSp>
        <p:sp>
          <p:nvSpPr>
            <p:cNvPr name="TextBox 24" id="24"/>
            <p:cNvSpPr txBox="true"/>
            <p:nvPr/>
          </p:nvSpPr>
          <p:spPr>
            <a:xfrm rot="0">
              <a:off x="0" y="136408"/>
              <a:ext cx="1738161" cy="16018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196"/>
                </a:lnSpc>
                <a:spcBef>
                  <a:spcPct val="0"/>
                </a:spcBef>
              </a:pPr>
              <a:r>
                <a:rPr lang="en-US" sz="7283" spc="94">
                  <a:solidFill>
                    <a:srgbClr val="F3F3F3"/>
                  </a:solidFill>
                  <a:latin typeface="Distillery Display"/>
                  <a:ea typeface="Distillery Display"/>
                  <a:cs typeface="Distillery Display"/>
                  <a:sym typeface="Distillery Display"/>
                </a:rPr>
                <a:t>2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914457" y="6086749"/>
            <a:ext cx="1303621" cy="1303711"/>
            <a:chOff x="0" y="0"/>
            <a:chExt cx="1738161" cy="1738282"/>
          </a:xfrm>
        </p:grpSpPr>
        <p:grpSp>
          <p:nvGrpSpPr>
            <p:cNvPr name="Group 26" id="26"/>
            <p:cNvGrpSpPr/>
            <p:nvPr/>
          </p:nvGrpSpPr>
          <p:grpSpPr>
            <a:xfrm rot="0">
              <a:off x="0" y="0"/>
              <a:ext cx="1738161" cy="1738161"/>
              <a:chOff x="0" y="0"/>
              <a:chExt cx="812800" cy="812800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751F"/>
              </a:solidFill>
              <a:ln w="38100" cap="sq">
                <a:solidFill>
                  <a:srgbClr val="1E1B3A"/>
                </a:solidFill>
                <a:prstDash val="lgDash"/>
                <a:miter/>
              </a:ln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994"/>
                  </a:lnSpc>
                </a:pPr>
              </a:p>
            </p:txBody>
          </p:sp>
        </p:grpSp>
        <p:sp>
          <p:nvSpPr>
            <p:cNvPr name="TextBox 29" id="29"/>
            <p:cNvSpPr txBox="true"/>
            <p:nvPr/>
          </p:nvSpPr>
          <p:spPr>
            <a:xfrm rot="0">
              <a:off x="0" y="136408"/>
              <a:ext cx="1738161" cy="16018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196"/>
                </a:lnSpc>
                <a:spcBef>
                  <a:spcPct val="0"/>
                </a:spcBef>
              </a:pPr>
              <a:r>
                <a:rPr lang="en-US" sz="7283" spc="94">
                  <a:solidFill>
                    <a:srgbClr val="F3F3F3"/>
                  </a:solidFill>
                  <a:latin typeface="Distillery Display"/>
                  <a:ea typeface="Distillery Display"/>
                  <a:cs typeface="Distillery Display"/>
                  <a:sym typeface="Distillery Display"/>
                </a:rPr>
                <a:t>3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914457" y="8006143"/>
            <a:ext cx="1303621" cy="1303711"/>
            <a:chOff x="0" y="0"/>
            <a:chExt cx="1738161" cy="1738282"/>
          </a:xfrm>
        </p:grpSpPr>
        <p:grpSp>
          <p:nvGrpSpPr>
            <p:cNvPr name="Group 31" id="31"/>
            <p:cNvGrpSpPr/>
            <p:nvPr/>
          </p:nvGrpSpPr>
          <p:grpSpPr>
            <a:xfrm rot="0">
              <a:off x="0" y="0"/>
              <a:ext cx="1738161" cy="1738161"/>
              <a:chOff x="0" y="0"/>
              <a:chExt cx="812800" cy="812800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751F"/>
              </a:solidFill>
              <a:ln w="38100" cap="sq">
                <a:solidFill>
                  <a:srgbClr val="1E1B3A"/>
                </a:solidFill>
                <a:prstDash val="lgDash"/>
                <a:miter/>
              </a:ln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994"/>
                  </a:lnSpc>
                </a:pPr>
              </a:p>
            </p:txBody>
          </p:sp>
        </p:grpSp>
        <p:sp>
          <p:nvSpPr>
            <p:cNvPr name="TextBox 34" id="34"/>
            <p:cNvSpPr txBox="true"/>
            <p:nvPr/>
          </p:nvSpPr>
          <p:spPr>
            <a:xfrm rot="0">
              <a:off x="0" y="136408"/>
              <a:ext cx="1738161" cy="16018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196"/>
                </a:lnSpc>
                <a:spcBef>
                  <a:spcPct val="0"/>
                </a:spcBef>
              </a:pPr>
              <a:r>
                <a:rPr lang="en-US" sz="7283" spc="94">
                  <a:solidFill>
                    <a:srgbClr val="F3F3F3"/>
                  </a:solidFill>
                  <a:latin typeface="Distillery Display"/>
                  <a:ea typeface="Distillery Display"/>
                  <a:cs typeface="Distillery Display"/>
                  <a:sym typeface="Distillery Display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3382" y="0"/>
            <a:ext cx="18776789" cy="10287000"/>
          </a:xfrm>
          <a:custGeom>
            <a:avLst/>
            <a:gdLst/>
            <a:ahLst/>
            <a:cxnLst/>
            <a:rect r="r" b="b" t="t" l="l"/>
            <a:pathLst>
              <a:path h="10287000" w="18776789">
                <a:moveTo>
                  <a:pt x="0" y="0"/>
                </a:moveTo>
                <a:lnTo>
                  <a:pt x="18776789" y="0"/>
                </a:lnTo>
                <a:lnTo>
                  <a:pt x="18776789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8448" r="0" b="-1844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1512255" y="6429255"/>
            <a:ext cx="1386387" cy="1326381"/>
          </a:xfrm>
          <a:custGeom>
            <a:avLst/>
            <a:gdLst/>
            <a:ahLst/>
            <a:cxnLst/>
            <a:rect r="r" b="b" t="t" l="l"/>
            <a:pathLst>
              <a:path h="1326381" w="1386387">
                <a:moveTo>
                  <a:pt x="0" y="0"/>
                </a:moveTo>
                <a:lnTo>
                  <a:pt x="1386387" y="0"/>
                </a:lnTo>
                <a:lnTo>
                  <a:pt x="1386387" y="1326380"/>
                </a:lnTo>
                <a:lnTo>
                  <a:pt x="0" y="13263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13974" r="0" b="-7564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762449" y="2111148"/>
            <a:ext cx="4505337" cy="3664376"/>
            <a:chOff x="0" y="0"/>
            <a:chExt cx="6007116" cy="4885834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6007116" cy="4885834"/>
              <a:chOff x="0" y="0"/>
              <a:chExt cx="1254813" cy="1020591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1254813" cy="1020591"/>
              </a:xfrm>
              <a:custGeom>
                <a:avLst/>
                <a:gdLst/>
                <a:ahLst/>
                <a:cxnLst/>
                <a:rect r="r" b="b" t="t" l="l"/>
                <a:pathLst>
                  <a:path h="1020591" w="1254813">
                    <a:moveTo>
                      <a:pt x="146063" y="0"/>
                    </a:moveTo>
                    <a:lnTo>
                      <a:pt x="1108750" y="0"/>
                    </a:lnTo>
                    <a:cubicBezTo>
                      <a:pt x="1189418" y="0"/>
                      <a:pt x="1254813" y="65395"/>
                      <a:pt x="1254813" y="146063"/>
                    </a:cubicBezTo>
                    <a:lnTo>
                      <a:pt x="1254813" y="874528"/>
                    </a:lnTo>
                    <a:cubicBezTo>
                      <a:pt x="1254813" y="913266"/>
                      <a:pt x="1239424" y="950418"/>
                      <a:pt x="1212032" y="977810"/>
                    </a:cubicBezTo>
                    <a:cubicBezTo>
                      <a:pt x="1184640" y="1005202"/>
                      <a:pt x="1147488" y="1020591"/>
                      <a:pt x="1108750" y="1020591"/>
                    </a:cubicBezTo>
                    <a:lnTo>
                      <a:pt x="146063" y="1020591"/>
                    </a:lnTo>
                    <a:cubicBezTo>
                      <a:pt x="107325" y="1020591"/>
                      <a:pt x="70173" y="1005202"/>
                      <a:pt x="42781" y="977810"/>
                    </a:cubicBezTo>
                    <a:cubicBezTo>
                      <a:pt x="15389" y="950418"/>
                      <a:pt x="0" y="913266"/>
                      <a:pt x="0" y="874528"/>
                    </a:cubicBezTo>
                    <a:lnTo>
                      <a:pt x="0" y="146063"/>
                    </a:lnTo>
                    <a:cubicBezTo>
                      <a:pt x="0" y="107325"/>
                      <a:pt x="15389" y="70173"/>
                      <a:pt x="42781" y="42781"/>
                    </a:cubicBezTo>
                    <a:cubicBezTo>
                      <a:pt x="70173" y="15389"/>
                      <a:pt x="107325" y="0"/>
                      <a:pt x="146063" y="0"/>
                    </a:cubicBezTo>
                    <a:close/>
                  </a:path>
                </a:pathLst>
              </a:custGeom>
              <a:solidFill>
                <a:srgbClr val="FFEB99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0" y="-47625"/>
                <a:ext cx="1254813" cy="106821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994"/>
                  </a:lnSpc>
                </a:pPr>
              </a:p>
            </p:txBody>
          </p:sp>
        </p:grpSp>
        <p:sp>
          <p:nvSpPr>
            <p:cNvPr name="TextBox 8" id="8"/>
            <p:cNvSpPr txBox="true"/>
            <p:nvPr/>
          </p:nvSpPr>
          <p:spPr>
            <a:xfrm rot="0">
              <a:off x="843399" y="2531758"/>
              <a:ext cx="4320317" cy="6749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254"/>
                </a:lnSpc>
                <a:spcBef>
                  <a:spcPct val="0"/>
                </a:spcBef>
              </a:pPr>
              <a:r>
                <a:rPr lang="en-US" b="true" sz="3039" spc="39">
                  <a:solidFill>
                    <a:srgbClr val="000000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Wiqoi Huang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165475" y="3810107"/>
              <a:ext cx="5676165" cy="5401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134"/>
                </a:lnSpc>
                <a:spcBef>
                  <a:spcPct val="0"/>
                </a:spcBef>
              </a:pPr>
              <a:r>
                <a:rPr lang="en-US" sz="2239" spc="29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Head of Product and Requirements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01285" y="2111148"/>
            <a:ext cx="4505337" cy="3647822"/>
            <a:chOff x="0" y="0"/>
            <a:chExt cx="6007116" cy="4863762"/>
          </a:xfrm>
        </p:grpSpPr>
        <p:grpSp>
          <p:nvGrpSpPr>
            <p:cNvPr name="Group 11" id="11"/>
            <p:cNvGrpSpPr/>
            <p:nvPr/>
          </p:nvGrpSpPr>
          <p:grpSpPr>
            <a:xfrm rot="0">
              <a:off x="0" y="0"/>
              <a:ext cx="6007116" cy="4863762"/>
              <a:chOff x="0" y="0"/>
              <a:chExt cx="1254813" cy="1015980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1254813" cy="1015980"/>
              </a:xfrm>
              <a:custGeom>
                <a:avLst/>
                <a:gdLst/>
                <a:ahLst/>
                <a:cxnLst/>
                <a:rect r="r" b="b" t="t" l="l"/>
                <a:pathLst>
                  <a:path h="1015980" w="1254813">
                    <a:moveTo>
                      <a:pt x="146063" y="0"/>
                    </a:moveTo>
                    <a:lnTo>
                      <a:pt x="1108750" y="0"/>
                    </a:lnTo>
                    <a:cubicBezTo>
                      <a:pt x="1189418" y="0"/>
                      <a:pt x="1254813" y="65395"/>
                      <a:pt x="1254813" y="146063"/>
                    </a:cubicBezTo>
                    <a:lnTo>
                      <a:pt x="1254813" y="869917"/>
                    </a:lnTo>
                    <a:cubicBezTo>
                      <a:pt x="1254813" y="950586"/>
                      <a:pt x="1189418" y="1015980"/>
                      <a:pt x="1108750" y="1015980"/>
                    </a:cubicBezTo>
                    <a:lnTo>
                      <a:pt x="146063" y="1015980"/>
                    </a:lnTo>
                    <a:cubicBezTo>
                      <a:pt x="107325" y="1015980"/>
                      <a:pt x="70173" y="1000592"/>
                      <a:pt x="42781" y="973199"/>
                    </a:cubicBezTo>
                    <a:cubicBezTo>
                      <a:pt x="15389" y="945807"/>
                      <a:pt x="0" y="908656"/>
                      <a:pt x="0" y="869917"/>
                    </a:cubicBezTo>
                    <a:lnTo>
                      <a:pt x="0" y="146063"/>
                    </a:lnTo>
                    <a:cubicBezTo>
                      <a:pt x="0" y="107325"/>
                      <a:pt x="15389" y="70173"/>
                      <a:pt x="42781" y="42781"/>
                    </a:cubicBezTo>
                    <a:cubicBezTo>
                      <a:pt x="70173" y="15389"/>
                      <a:pt x="107325" y="0"/>
                      <a:pt x="146063" y="0"/>
                    </a:cubicBezTo>
                    <a:close/>
                  </a:path>
                </a:pathLst>
              </a:custGeom>
              <a:solidFill>
                <a:srgbClr val="FFC099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47625"/>
                <a:ext cx="1254813" cy="106360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994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1064033" y="2502366"/>
              <a:ext cx="3879049" cy="6748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254"/>
                </a:lnSpc>
                <a:spcBef>
                  <a:spcPct val="0"/>
                </a:spcBef>
              </a:pPr>
              <a:r>
                <a:rPr lang="en-US" b="true" sz="3039" spc="39">
                  <a:solidFill>
                    <a:srgbClr val="000000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Brian Chen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165475" y="3792326"/>
              <a:ext cx="5676165" cy="4990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994"/>
                </a:lnSpc>
                <a:spcBef>
                  <a:spcPct val="0"/>
                </a:spcBef>
              </a:pPr>
              <a:r>
                <a:rPr lang="en-US" sz="2139" spc="27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Head of Technical Development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2440122" y="2111148"/>
            <a:ext cx="4505337" cy="3647866"/>
            <a:chOff x="0" y="0"/>
            <a:chExt cx="6007116" cy="4863821"/>
          </a:xfrm>
        </p:grpSpPr>
        <p:grpSp>
          <p:nvGrpSpPr>
            <p:cNvPr name="Group 17" id="17"/>
            <p:cNvGrpSpPr/>
            <p:nvPr/>
          </p:nvGrpSpPr>
          <p:grpSpPr>
            <a:xfrm rot="0">
              <a:off x="0" y="0"/>
              <a:ext cx="6007116" cy="4863821"/>
              <a:chOff x="0" y="0"/>
              <a:chExt cx="1254813" cy="1015993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1254813" cy="1015993"/>
              </a:xfrm>
              <a:custGeom>
                <a:avLst/>
                <a:gdLst/>
                <a:ahLst/>
                <a:cxnLst/>
                <a:rect r="r" b="b" t="t" l="l"/>
                <a:pathLst>
                  <a:path h="1015993" w="1254813">
                    <a:moveTo>
                      <a:pt x="146063" y="0"/>
                    </a:moveTo>
                    <a:lnTo>
                      <a:pt x="1108750" y="0"/>
                    </a:lnTo>
                    <a:cubicBezTo>
                      <a:pt x="1189418" y="0"/>
                      <a:pt x="1254813" y="65395"/>
                      <a:pt x="1254813" y="146063"/>
                    </a:cubicBezTo>
                    <a:lnTo>
                      <a:pt x="1254813" y="869930"/>
                    </a:lnTo>
                    <a:cubicBezTo>
                      <a:pt x="1254813" y="908668"/>
                      <a:pt x="1239424" y="945820"/>
                      <a:pt x="1212032" y="973212"/>
                    </a:cubicBezTo>
                    <a:cubicBezTo>
                      <a:pt x="1184640" y="1000604"/>
                      <a:pt x="1147488" y="1015993"/>
                      <a:pt x="1108750" y="1015993"/>
                    </a:cubicBezTo>
                    <a:lnTo>
                      <a:pt x="146063" y="1015993"/>
                    </a:lnTo>
                    <a:cubicBezTo>
                      <a:pt x="65395" y="1015993"/>
                      <a:pt x="0" y="950598"/>
                      <a:pt x="0" y="869930"/>
                    </a:cubicBezTo>
                    <a:lnTo>
                      <a:pt x="0" y="146063"/>
                    </a:lnTo>
                    <a:cubicBezTo>
                      <a:pt x="0" y="107325"/>
                      <a:pt x="15389" y="70173"/>
                      <a:pt x="42781" y="42781"/>
                    </a:cubicBezTo>
                    <a:cubicBezTo>
                      <a:pt x="70173" y="15389"/>
                      <a:pt x="107325" y="0"/>
                      <a:pt x="146063" y="0"/>
                    </a:cubicBezTo>
                    <a:close/>
                  </a:path>
                </a:pathLst>
              </a:custGeom>
              <a:solidFill>
                <a:srgbClr val="C2F6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-47625"/>
                <a:ext cx="1254813" cy="106361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994"/>
                  </a:lnSpc>
                </a:pPr>
              </a:p>
            </p:txBody>
          </p:sp>
        </p:grpSp>
        <p:sp>
          <p:nvSpPr>
            <p:cNvPr name="TextBox 20" id="20"/>
            <p:cNvSpPr txBox="true"/>
            <p:nvPr/>
          </p:nvSpPr>
          <p:spPr>
            <a:xfrm rot="0">
              <a:off x="1064033" y="2549068"/>
              <a:ext cx="3879049" cy="6749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254"/>
                </a:lnSpc>
                <a:spcBef>
                  <a:spcPct val="0"/>
                </a:spcBef>
              </a:pPr>
              <a:r>
                <a:rPr lang="en-US" b="true" sz="3039" spc="39">
                  <a:solidFill>
                    <a:srgbClr val="000000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Henry Liu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165475" y="3792384"/>
              <a:ext cx="5676165" cy="49905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994"/>
                </a:lnSpc>
                <a:spcBef>
                  <a:spcPct val="0"/>
                </a:spcBef>
              </a:pPr>
              <a:r>
                <a:rPr lang="en-US" sz="2139" spc="27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Head of Design and Interaction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3760437" y="6286998"/>
            <a:ext cx="4505337" cy="3647734"/>
            <a:chOff x="0" y="0"/>
            <a:chExt cx="6007116" cy="4863645"/>
          </a:xfrm>
        </p:grpSpPr>
        <p:grpSp>
          <p:nvGrpSpPr>
            <p:cNvPr name="Group 23" id="23"/>
            <p:cNvGrpSpPr/>
            <p:nvPr/>
          </p:nvGrpSpPr>
          <p:grpSpPr>
            <a:xfrm rot="0">
              <a:off x="0" y="0"/>
              <a:ext cx="6007116" cy="4863645"/>
              <a:chOff x="0" y="0"/>
              <a:chExt cx="1254813" cy="1015956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1254813" cy="1015956"/>
              </a:xfrm>
              <a:custGeom>
                <a:avLst/>
                <a:gdLst/>
                <a:ahLst/>
                <a:cxnLst/>
                <a:rect r="r" b="b" t="t" l="l"/>
                <a:pathLst>
                  <a:path h="1015956" w="1254813">
                    <a:moveTo>
                      <a:pt x="146063" y="0"/>
                    </a:moveTo>
                    <a:lnTo>
                      <a:pt x="1108750" y="0"/>
                    </a:lnTo>
                    <a:cubicBezTo>
                      <a:pt x="1189418" y="0"/>
                      <a:pt x="1254813" y="65395"/>
                      <a:pt x="1254813" y="146063"/>
                    </a:cubicBezTo>
                    <a:lnTo>
                      <a:pt x="1254813" y="869893"/>
                    </a:lnTo>
                    <a:cubicBezTo>
                      <a:pt x="1254813" y="908631"/>
                      <a:pt x="1239424" y="945783"/>
                      <a:pt x="1212032" y="973175"/>
                    </a:cubicBezTo>
                    <a:cubicBezTo>
                      <a:pt x="1184640" y="1000567"/>
                      <a:pt x="1147488" y="1015956"/>
                      <a:pt x="1108750" y="1015956"/>
                    </a:cubicBezTo>
                    <a:lnTo>
                      <a:pt x="146063" y="1015956"/>
                    </a:lnTo>
                    <a:cubicBezTo>
                      <a:pt x="65395" y="1015956"/>
                      <a:pt x="0" y="950561"/>
                      <a:pt x="0" y="869893"/>
                    </a:cubicBezTo>
                    <a:lnTo>
                      <a:pt x="0" y="146063"/>
                    </a:lnTo>
                    <a:cubicBezTo>
                      <a:pt x="0" y="107325"/>
                      <a:pt x="15389" y="70173"/>
                      <a:pt x="42781" y="42781"/>
                    </a:cubicBezTo>
                    <a:cubicBezTo>
                      <a:pt x="70173" y="15389"/>
                      <a:pt x="107325" y="0"/>
                      <a:pt x="146063" y="0"/>
                    </a:cubicBezTo>
                    <a:close/>
                  </a:path>
                </a:pathLst>
              </a:custGeom>
              <a:solidFill>
                <a:srgbClr val="FFD6D6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0" y="-47625"/>
                <a:ext cx="1254813" cy="106358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994"/>
                  </a:lnSpc>
                </a:pPr>
              </a:p>
            </p:txBody>
          </p:sp>
        </p:grpSp>
        <p:sp>
          <p:nvSpPr>
            <p:cNvPr name="TextBox 26" id="26"/>
            <p:cNvSpPr txBox="true"/>
            <p:nvPr/>
          </p:nvSpPr>
          <p:spPr>
            <a:xfrm rot="0">
              <a:off x="32045" y="2718328"/>
              <a:ext cx="5975071" cy="6748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254"/>
                </a:lnSpc>
                <a:spcBef>
                  <a:spcPct val="0"/>
                </a:spcBef>
              </a:pPr>
              <a:r>
                <a:rPr lang="en-US" b="true" sz="3039" spc="39">
                  <a:solidFill>
                    <a:srgbClr val="000000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Tiger Yin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165475" y="3884256"/>
              <a:ext cx="5841640" cy="49896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994"/>
                </a:lnSpc>
                <a:spcBef>
                  <a:spcPct val="0"/>
                </a:spcBef>
              </a:pPr>
              <a:r>
                <a:rPr lang="en-US" sz="2139" spc="27">
                  <a:solidFill>
                    <a:srgbClr val="00000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Head of Testing and Demonstration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9621656" y="6286998"/>
            <a:ext cx="4483857" cy="3640815"/>
            <a:chOff x="0" y="0"/>
            <a:chExt cx="1254813" cy="1018887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254813" cy="1018887"/>
            </a:xfrm>
            <a:custGeom>
              <a:avLst/>
              <a:gdLst/>
              <a:ahLst/>
              <a:cxnLst/>
              <a:rect r="r" b="b" t="t" l="l"/>
              <a:pathLst>
                <a:path h="1018887" w="1254813">
                  <a:moveTo>
                    <a:pt x="146763" y="0"/>
                  </a:moveTo>
                  <a:lnTo>
                    <a:pt x="1108050" y="0"/>
                  </a:lnTo>
                  <a:cubicBezTo>
                    <a:pt x="1189105" y="0"/>
                    <a:pt x="1254813" y="65708"/>
                    <a:pt x="1254813" y="146763"/>
                  </a:cubicBezTo>
                  <a:lnTo>
                    <a:pt x="1254813" y="872124"/>
                  </a:lnTo>
                  <a:cubicBezTo>
                    <a:pt x="1254813" y="953179"/>
                    <a:pt x="1189105" y="1018887"/>
                    <a:pt x="1108050" y="1018887"/>
                  </a:cubicBezTo>
                  <a:lnTo>
                    <a:pt x="146763" y="1018887"/>
                  </a:lnTo>
                  <a:cubicBezTo>
                    <a:pt x="65708" y="1018887"/>
                    <a:pt x="0" y="953179"/>
                    <a:pt x="0" y="872124"/>
                  </a:cubicBezTo>
                  <a:lnTo>
                    <a:pt x="0" y="146763"/>
                  </a:lnTo>
                  <a:cubicBezTo>
                    <a:pt x="0" y="65708"/>
                    <a:pt x="65708" y="0"/>
                    <a:pt x="146763" y="0"/>
                  </a:cubicBezTo>
                  <a:close/>
                </a:path>
              </a:pathLst>
            </a:custGeom>
            <a:solidFill>
              <a:srgbClr val="C2FFE1"/>
            </a:solidFill>
            <a:ln w="47625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76200"/>
              <a:ext cx="1254813" cy="1095087"/>
            </a:xfrm>
            <a:prstGeom prst="rect">
              <a:avLst/>
            </a:prstGeom>
          </p:spPr>
          <p:txBody>
            <a:bodyPr anchor="ctr" rtlCol="false" tIns="50558" lIns="50558" bIns="50558" rIns="50558"/>
            <a:lstStyle/>
            <a:p>
              <a:pPr algn="ctr">
                <a:lnSpc>
                  <a:spcPts val="2994"/>
                </a:lnSpc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3460765" y="1471006"/>
            <a:ext cx="2464052" cy="2464052"/>
            <a:chOff x="0" y="0"/>
            <a:chExt cx="812800" cy="8128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14921" r="0" b="-18412"/>
              </a:stretch>
            </a:blipFill>
            <a:ln w="38100" cap="sq">
              <a:solidFill>
                <a:srgbClr val="000000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10747465" y="5673982"/>
            <a:ext cx="2272534" cy="2272534"/>
            <a:chOff x="0" y="0"/>
            <a:chExt cx="812800" cy="8128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l="-1234" t="0" r="-1234" b="0"/>
              </a:stretch>
            </a:blipFill>
            <a:ln w="38100" cap="sq">
              <a:solidFill>
                <a:srgbClr val="000000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7610866" y="1471006"/>
            <a:ext cx="2486175" cy="2486175"/>
            <a:chOff x="0" y="0"/>
            <a:chExt cx="812800" cy="8128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6"/>
              <a:stretch>
                <a:fillRect l="-423" t="0" r="-423" b="0"/>
              </a:stretch>
            </a:blipFill>
            <a:ln w="38100" cap="sq">
              <a:solidFill>
                <a:srgbClr val="000000"/>
              </a:solidFill>
              <a:prstDash val="solid"/>
              <a:miter/>
            </a:ln>
          </p:spPr>
        </p:sp>
      </p:grpSp>
      <p:grpSp>
        <p:nvGrpSpPr>
          <p:cNvPr name="Group 37" id="37"/>
          <p:cNvGrpSpPr/>
          <p:nvPr/>
        </p:nvGrpSpPr>
        <p:grpSpPr>
          <a:xfrm rot="0">
            <a:off x="1813199" y="1553344"/>
            <a:ext cx="2403837" cy="2403837"/>
            <a:chOff x="0" y="0"/>
            <a:chExt cx="812800" cy="8128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7"/>
              <a:stretch>
                <a:fillRect l="0" t="-16679" r="0" b="-16679"/>
              </a:stretch>
            </a:blipFill>
            <a:ln w="38100" cap="sq">
              <a:solidFill>
                <a:srgbClr val="000000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4876839" y="5673982"/>
            <a:ext cx="2272534" cy="2272534"/>
            <a:chOff x="0" y="0"/>
            <a:chExt cx="812800" cy="81280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 l="0" t="-14461" r="0" b="-14461"/>
              </a:stretch>
            </a:blipFill>
            <a:ln w="38100" cap="sq">
              <a:solidFill>
                <a:srgbClr val="000000"/>
              </a:solidFill>
              <a:prstDash val="solid"/>
              <a:miter/>
            </a:ln>
          </p:spPr>
        </p:sp>
      </p:grpSp>
      <p:sp>
        <p:nvSpPr>
          <p:cNvPr name="TextBox 41" id="41"/>
          <p:cNvSpPr txBox="true"/>
          <p:nvPr/>
        </p:nvSpPr>
        <p:spPr>
          <a:xfrm rot="0">
            <a:off x="474070" y="60325"/>
            <a:ext cx="3051944" cy="968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00"/>
              </a:lnSpc>
              <a:spcBef>
                <a:spcPct val="0"/>
              </a:spcBef>
            </a:pPr>
            <a:r>
              <a:rPr lang="en-US" b="true" sz="5000" spc="65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Team Roles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0481307" y="8234461"/>
            <a:ext cx="2764555" cy="5206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34"/>
              </a:lnSpc>
              <a:spcBef>
                <a:spcPct val="0"/>
              </a:spcBef>
            </a:pPr>
            <a:r>
              <a:rPr lang="en-US" b="true" sz="3024" spc="39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Patrick Liu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9745171" y="8986473"/>
            <a:ext cx="4236827" cy="774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80"/>
              </a:lnSpc>
              <a:spcBef>
                <a:spcPct val="0"/>
              </a:spcBef>
            </a:pPr>
            <a:r>
              <a:rPr lang="en-US" sz="2128" spc="2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Head of Presentations, Videos, and Roadshows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2603850" y="4537352"/>
            <a:ext cx="825610" cy="364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4"/>
              </a:lnSpc>
              <a:spcBef>
                <a:spcPct val="0"/>
              </a:spcBef>
            </a:pPr>
            <a:r>
              <a:rPr lang="en-US" b="true" sz="2139" spc="27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黄彦哲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8441149" y="4537352"/>
            <a:ext cx="825610" cy="364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4"/>
              </a:lnSpc>
              <a:spcBef>
                <a:spcPct val="0"/>
              </a:spcBef>
            </a:pPr>
            <a:r>
              <a:rPr lang="en-US" b="true" sz="2139" spc="27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陈晢朴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4279986" y="4537352"/>
            <a:ext cx="825610" cy="364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4"/>
              </a:lnSpc>
              <a:spcBef>
                <a:spcPct val="0"/>
              </a:spcBef>
            </a:pPr>
            <a:r>
              <a:rPr lang="en-US" b="true" sz="2139" spc="27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刘烨亨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1450779" y="8707498"/>
            <a:ext cx="825610" cy="364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4"/>
              </a:lnSpc>
              <a:spcBef>
                <a:spcPct val="0"/>
              </a:spcBef>
            </a:pPr>
            <a:r>
              <a:rPr lang="en-US" b="true" sz="2139" spc="27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刘澎宇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5600300" y="8866036"/>
            <a:ext cx="825610" cy="364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94"/>
              </a:lnSpc>
              <a:spcBef>
                <a:spcPct val="0"/>
              </a:spcBef>
            </a:pPr>
            <a:r>
              <a:rPr lang="en-US" b="true" sz="2139" spc="27">
                <a:solidFill>
                  <a:srgbClr val="000000"/>
                </a:solidFill>
                <a:latin typeface="Aileron Bold"/>
                <a:ea typeface="Aileron Bold"/>
                <a:cs typeface="Aileron Bold"/>
                <a:sym typeface="Aileron Bold"/>
              </a:rPr>
              <a:t>殷泰格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503632" y="3372376"/>
            <a:ext cx="4092742" cy="4685695"/>
            <a:chOff x="0" y="0"/>
            <a:chExt cx="1077924" cy="123409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77924" cy="1234093"/>
            </a:xfrm>
            <a:custGeom>
              <a:avLst/>
              <a:gdLst/>
              <a:ahLst/>
              <a:cxnLst/>
              <a:rect r="r" b="b" t="t" l="l"/>
              <a:pathLst>
                <a:path h="1234093" w="1077924">
                  <a:moveTo>
                    <a:pt x="0" y="0"/>
                  </a:moveTo>
                  <a:lnTo>
                    <a:pt x="1077924" y="0"/>
                  </a:lnTo>
                  <a:lnTo>
                    <a:pt x="1077924" y="1234093"/>
                  </a:lnTo>
                  <a:lnTo>
                    <a:pt x="0" y="1234093"/>
                  </a:lnTo>
                  <a:close/>
                </a:path>
              </a:pathLst>
            </a:custGeom>
            <a:solidFill>
              <a:srgbClr val="FFFFFF"/>
            </a:solidFill>
            <a:ln w="57150" cap="sq">
              <a:solidFill>
                <a:srgbClr val="FFA51F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04775"/>
              <a:ext cx="1077924" cy="13388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3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3910383" y="8094101"/>
            <a:ext cx="4092742" cy="4685695"/>
            <a:chOff x="0" y="0"/>
            <a:chExt cx="1077924" cy="123409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77924" cy="1234093"/>
            </a:xfrm>
            <a:custGeom>
              <a:avLst/>
              <a:gdLst/>
              <a:ahLst/>
              <a:cxnLst/>
              <a:rect r="r" b="b" t="t" l="l"/>
              <a:pathLst>
                <a:path h="1234093" w="1077924">
                  <a:moveTo>
                    <a:pt x="0" y="0"/>
                  </a:moveTo>
                  <a:lnTo>
                    <a:pt x="1077924" y="0"/>
                  </a:lnTo>
                  <a:lnTo>
                    <a:pt x="1077924" y="1234093"/>
                  </a:lnTo>
                  <a:lnTo>
                    <a:pt x="0" y="1234093"/>
                  </a:lnTo>
                  <a:close/>
                </a:path>
              </a:pathLst>
            </a:custGeom>
            <a:solidFill>
              <a:srgbClr val="FFA51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104775"/>
              <a:ext cx="1077924" cy="13388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3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536843" y="5143500"/>
            <a:ext cx="4092742" cy="5829143"/>
            <a:chOff x="0" y="0"/>
            <a:chExt cx="1077924" cy="153524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77924" cy="1535248"/>
            </a:xfrm>
            <a:custGeom>
              <a:avLst/>
              <a:gdLst/>
              <a:ahLst/>
              <a:cxnLst/>
              <a:rect r="r" b="b" t="t" l="l"/>
              <a:pathLst>
                <a:path h="1535248" w="1077924">
                  <a:moveTo>
                    <a:pt x="0" y="0"/>
                  </a:moveTo>
                  <a:lnTo>
                    <a:pt x="1077924" y="0"/>
                  </a:lnTo>
                  <a:lnTo>
                    <a:pt x="1077924" y="1535248"/>
                  </a:lnTo>
                  <a:lnTo>
                    <a:pt x="0" y="1535248"/>
                  </a:lnTo>
                  <a:close/>
                </a:path>
              </a:pathLst>
            </a:custGeom>
            <a:solidFill>
              <a:srgbClr val="FF914D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04775"/>
              <a:ext cx="1077924" cy="16400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3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-513555" y="1743856"/>
            <a:ext cx="4092742" cy="2540478"/>
            <a:chOff x="0" y="0"/>
            <a:chExt cx="1077924" cy="66909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77924" cy="669097"/>
            </a:xfrm>
            <a:custGeom>
              <a:avLst/>
              <a:gdLst/>
              <a:ahLst/>
              <a:cxnLst/>
              <a:rect r="r" b="b" t="t" l="l"/>
              <a:pathLst>
                <a:path h="669097" w="1077924">
                  <a:moveTo>
                    <a:pt x="0" y="0"/>
                  </a:moveTo>
                  <a:lnTo>
                    <a:pt x="1077924" y="0"/>
                  </a:lnTo>
                  <a:lnTo>
                    <a:pt x="1077924" y="669097"/>
                  </a:lnTo>
                  <a:lnTo>
                    <a:pt x="0" y="669097"/>
                  </a:lnTo>
                  <a:close/>
                </a:path>
              </a:pathLst>
            </a:custGeom>
            <a:solidFill>
              <a:srgbClr val="FFFFFF"/>
            </a:solidFill>
            <a:ln w="57150" cap="sq">
              <a:solidFill>
                <a:srgbClr val="FFA51F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104775"/>
              <a:ext cx="1077924" cy="7738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3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670712" y="6854127"/>
            <a:ext cx="4092742" cy="5829143"/>
            <a:chOff x="0" y="0"/>
            <a:chExt cx="1077924" cy="153524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77924" cy="1535248"/>
            </a:xfrm>
            <a:custGeom>
              <a:avLst/>
              <a:gdLst/>
              <a:ahLst/>
              <a:cxnLst/>
              <a:rect r="r" b="b" t="t" l="l"/>
              <a:pathLst>
                <a:path h="1535248" w="1077924">
                  <a:moveTo>
                    <a:pt x="0" y="0"/>
                  </a:moveTo>
                  <a:lnTo>
                    <a:pt x="1077924" y="0"/>
                  </a:lnTo>
                  <a:lnTo>
                    <a:pt x="1077924" y="1535248"/>
                  </a:lnTo>
                  <a:lnTo>
                    <a:pt x="0" y="1535248"/>
                  </a:lnTo>
                  <a:close/>
                </a:path>
              </a:pathLst>
            </a:custGeom>
            <a:solidFill>
              <a:srgbClr val="FFBD59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04775"/>
              <a:ext cx="1077924" cy="16400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3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-1098227" y="8094101"/>
            <a:ext cx="4092742" cy="5829143"/>
            <a:chOff x="0" y="0"/>
            <a:chExt cx="1077924" cy="153524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77924" cy="1535248"/>
            </a:xfrm>
            <a:custGeom>
              <a:avLst/>
              <a:gdLst/>
              <a:ahLst/>
              <a:cxnLst/>
              <a:rect r="r" b="b" t="t" l="l"/>
              <a:pathLst>
                <a:path h="1535248" w="1077924">
                  <a:moveTo>
                    <a:pt x="0" y="0"/>
                  </a:moveTo>
                  <a:lnTo>
                    <a:pt x="1077924" y="0"/>
                  </a:lnTo>
                  <a:lnTo>
                    <a:pt x="1077924" y="1535248"/>
                  </a:lnTo>
                  <a:lnTo>
                    <a:pt x="0" y="1535248"/>
                  </a:lnTo>
                  <a:close/>
                </a:path>
              </a:pathLst>
            </a:custGeom>
            <a:solidFill>
              <a:srgbClr val="FF914D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104775"/>
              <a:ext cx="1077924" cy="16400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3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-1596713" y="-233022"/>
            <a:ext cx="4092742" cy="3374591"/>
            <a:chOff x="0" y="0"/>
            <a:chExt cx="1077924" cy="88878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77924" cy="888781"/>
            </a:xfrm>
            <a:custGeom>
              <a:avLst/>
              <a:gdLst/>
              <a:ahLst/>
              <a:cxnLst/>
              <a:rect r="r" b="b" t="t" l="l"/>
              <a:pathLst>
                <a:path h="888781" w="1077924">
                  <a:moveTo>
                    <a:pt x="0" y="0"/>
                  </a:moveTo>
                  <a:lnTo>
                    <a:pt x="1077924" y="0"/>
                  </a:lnTo>
                  <a:lnTo>
                    <a:pt x="1077924" y="888781"/>
                  </a:lnTo>
                  <a:lnTo>
                    <a:pt x="0" y="888781"/>
                  </a:lnTo>
                  <a:close/>
                </a:path>
              </a:pathLst>
            </a:custGeom>
            <a:solidFill>
              <a:srgbClr val="FFBD59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104775"/>
              <a:ext cx="1077924" cy="9935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3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4457261" y="-4687068"/>
            <a:ext cx="4092742" cy="5829143"/>
            <a:chOff x="0" y="0"/>
            <a:chExt cx="1077924" cy="1535248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77924" cy="1535248"/>
            </a:xfrm>
            <a:custGeom>
              <a:avLst/>
              <a:gdLst/>
              <a:ahLst/>
              <a:cxnLst/>
              <a:rect r="r" b="b" t="t" l="l"/>
              <a:pathLst>
                <a:path h="1535248" w="1077924">
                  <a:moveTo>
                    <a:pt x="0" y="0"/>
                  </a:moveTo>
                  <a:lnTo>
                    <a:pt x="1077924" y="0"/>
                  </a:lnTo>
                  <a:lnTo>
                    <a:pt x="1077924" y="1535248"/>
                  </a:lnTo>
                  <a:lnTo>
                    <a:pt x="0" y="1535248"/>
                  </a:lnTo>
                  <a:close/>
                </a:path>
              </a:pathLst>
            </a:custGeom>
            <a:solidFill>
              <a:srgbClr val="FFBD59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104775"/>
              <a:ext cx="1077924" cy="16400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3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1688322" y="-3447093"/>
            <a:ext cx="4092742" cy="5829143"/>
            <a:chOff x="0" y="0"/>
            <a:chExt cx="1077924" cy="153524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77924" cy="1535248"/>
            </a:xfrm>
            <a:custGeom>
              <a:avLst/>
              <a:gdLst/>
              <a:ahLst/>
              <a:cxnLst/>
              <a:rect r="r" b="b" t="t" l="l"/>
              <a:pathLst>
                <a:path h="1535248" w="1077924">
                  <a:moveTo>
                    <a:pt x="0" y="0"/>
                  </a:moveTo>
                  <a:lnTo>
                    <a:pt x="1077924" y="0"/>
                  </a:lnTo>
                  <a:lnTo>
                    <a:pt x="1077924" y="1535248"/>
                  </a:lnTo>
                  <a:lnTo>
                    <a:pt x="0" y="1535248"/>
                  </a:lnTo>
                  <a:close/>
                </a:path>
              </a:pathLst>
            </a:custGeom>
            <a:solidFill>
              <a:srgbClr val="FF914D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104775"/>
              <a:ext cx="1077924" cy="16400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3"/>
                </a:lnSpc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6764091" y="6491789"/>
            <a:ext cx="1566283" cy="1566283"/>
            <a:chOff x="0" y="0"/>
            <a:chExt cx="812800" cy="8128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66675" cap="sq">
              <a:solidFill>
                <a:srgbClr val="FF914D"/>
              </a:solidFill>
              <a:prstDash val="solid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76200" y="-28575"/>
              <a:ext cx="660400" cy="7651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3"/>
                </a:lnSpc>
              </a:pPr>
            </a:p>
          </p:txBody>
        </p:sp>
      </p:grpSp>
      <p:grpSp>
        <p:nvGrpSpPr>
          <p:cNvPr name="Group 32" id="32"/>
          <p:cNvGrpSpPr/>
          <p:nvPr/>
        </p:nvGrpSpPr>
        <p:grpSpPr>
          <a:xfrm rot="-1260513">
            <a:off x="10566915" y="6032362"/>
            <a:ext cx="3086100" cy="2700338"/>
            <a:chOff x="0" y="0"/>
            <a:chExt cx="812800" cy="7112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812800" cy="711200"/>
            </a:xfrm>
            <a:custGeom>
              <a:avLst/>
              <a:gdLst/>
              <a:ahLst/>
              <a:cxnLst/>
              <a:rect r="r" b="b" t="t" l="l"/>
              <a:pathLst>
                <a:path h="711200" w="8128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FFFFFF"/>
            </a:solidFill>
            <a:ln w="66675" cap="sq">
              <a:solidFill>
                <a:srgbClr val="FFA51F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127000" y="225425"/>
              <a:ext cx="558800" cy="434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3"/>
                </a:lnSpc>
              </a:pP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4746480" y="2309722"/>
            <a:ext cx="8795040" cy="25976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042"/>
              </a:lnSpc>
              <a:spcBef>
                <a:spcPct val="0"/>
              </a:spcBef>
            </a:pPr>
            <a:r>
              <a:rPr lang="en-US" b="true" sz="13601" spc="176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THANK YOU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6039334" y="4939712"/>
            <a:ext cx="5547431" cy="495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3"/>
              </a:lnSpc>
              <a:spcBef>
                <a:spcPct val="0"/>
              </a:spcBef>
            </a:pPr>
            <a:r>
              <a:rPr lang="en-US" b="true" sz="2602" i="true" spc="33">
                <a:solidFill>
                  <a:srgbClr val="000000"/>
                </a:solidFill>
                <a:latin typeface="Calibri (MS) Bold Italics"/>
                <a:ea typeface="Calibri (MS) Bold Italics"/>
                <a:cs typeface="Calibri (MS) Bold Italics"/>
                <a:sym typeface="Calibri (MS) Bold Italics"/>
              </a:rPr>
              <a:t>We are happy to answer any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DAHS-OHcpUY</dc:identifier>
  <dcterms:modified xsi:type="dcterms:W3CDTF">2011-08-01T06:04:30Z</dcterms:modified>
  <cp:revision>1</cp:revision>
  <dc:title>HHCC 26 Presentation</dc:title>
</cp:coreProperties>
</file>